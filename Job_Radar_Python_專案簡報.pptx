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00eebf746b4f87" /><Relationship Type="http://schemas.openxmlformats.org/officeDocument/2006/relationships/extended-properties" Target="/docProps/app.xml" Id="R2ac246d7c124460b" /><Relationship Type="http://schemas.openxmlformats.org/officeDocument/2006/relationships/officeDocument" Target="/ppt/presentation.xml" Id="Rf4e4507b80cb44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da3cd74ad4f4a"/>
  </p:sldMasterIdLst>
  <p:notesMasterIdLst>
    <p:notesMasterId xmlns:r="http://schemas.openxmlformats.org/officeDocument/2006/relationships" r:id="R8f1f138d10a4474c"/>
  </p:notesMasterIdLst>
  <p:sldIdLst>
    <p:sldId xmlns:r="http://schemas.openxmlformats.org/officeDocument/2006/relationships" id="256" r:id="Rab9fff41a4f54ee7"/>
    <p:sldId xmlns:r="http://schemas.openxmlformats.org/officeDocument/2006/relationships" id="257" r:id="Raca0cc0a6cdc468b"/>
    <p:sldId xmlns:r="http://schemas.openxmlformats.org/officeDocument/2006/relationships" id="258" r:id="R115f7e2993c04235"/>
    <p:sldId xmlns:r="http://schemas.openxmlformats.org/officeDocument/2006/relationships" id="259" r:id="R6d162960c9a5430f"/>
    <p:sldId xmlns:r="http://schemas.openxmlformats.org/officeDocument/2006/relationships" id="260" r:id="R72478b30142f4b33"/>
    <p:sldId xmlns:r="http://schemas.openxmlformats.org/officeDocument/2006/relationships" id="261" r:id="R3ab8e4b1b8974c17"/>
    <p:sldId xmlns:r="http://schemas.openxmlformats.org/officeDocument/2006/relationships" id="262" r:id="Rc8993badec6d464a"/>
    <p:sldId xmlns:r="http://schemas.openxmlformats.org/officeDocument/2006/relationships" id="263" r:id="R318ec8d2f12140bd"/>
    <p:sldId xmlns:r="http://schemas.openxmlformats.org/officeDocument/2006/relationships" id="264" r:id="Rf52bd03399ad467b"/>
    <p:sldId xmlns:r="http://schemas.openxmlformats.org/officeDocument/2006/relationships" id="265" r:id="R6f4289a9f32b4bde"/>
    <p:sldId xmlns:r="http://schemas.openxmlformats.org/officeDocument/2006/relationships" id="266" r:id="R29c9a137c6ed41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b6b71fedf84313" /><Relationship Type="http://schemas.openxmlformats.org/officeDocument/2006/relationships/slideMaster" Target="/ppt/slideMasters/slideMaster1.xml" Id="Rf26da3cd74ad4f4a" /><Relationship Type="http://schemas.openxmlformats.org/officeDocument/2006/relationships/notesMaster" Target="/ppt/notesMasters/notesMaster1.xml" Id="R8f1f138d10a4474c" /><Relationship Type="http://schemas.openxmlformats.org/officeDocument/2006/relationships/presProps" Target="/ppt/presProps.xml" Id="Refbb5411c8d94872" /><Relationship Type="http://schemas.openxmlformats.org/officeDocument/2006/relationships/tableStyles" Target="/ppt/tableStyles.xml" Id="Rdbe1e489112744fd" /><Relationship Type="http://schemas.openxmlformats.org/officeDocument/2006/relationships/slide" Target="/ppt/slides/slide1.xml" Id="Rab9fff41a4f54ee7" /><Relationship Type="http://schemas.openxmlformats.org/officeDocument/2006/relationships/slide" Target="/ppt/slides/slide2.xml" Id="Raca0cc0a6cdc468b" /><Relationship Type="http://schemas.openxmlformats.org/officeDocument/2006/relationships/slide" Target="/ppt/slides/slide3.xml" Id="R115f7e2993c04235" /><Relationship Type="http://schemas.openxmlformats.org/officeDocument/2006/relationships/slide" Target="/ppt/slides/slide4.xml" Id="R6d162960c9a5430f" /><Relationship Type="http://schemas.openxmlformats.org/officeDocument/2006/relationships/slide" Target="/ppt/slides/slide5.xml" Id="R72478b30142f4b33" /><Relationship Type="http://schemas.openxmlformats.org/officeDocument/2006/relationships/slide" Target="/ppt/slides/slide6.xml" Id="R3ab8e4b1b8974c17" /><Relationship Type="http://schemas.openxmlformats.org/officeDocument/2006/relationships/slide" Target="/ppt/slides/slide7.xml" Id="Rc8993badec6d464a" /><Relationship Type="http://schemas.openxmlformats.org/officeDocument/2006/relationships/slide" Target="/ppt/slides/slide8.xml" Id="R318ec8d2f12140bd" /><Relationship Type="http://schemas.openxmlformats.org/officeDocument/2006/relationships/slide" Target="/ppt/slides/slide9.xml" Id="Rf52bd03399ad467b" /><Relationship Type="http://schemas.openxmlformats.org/officeDocument/2006/relationships/slide" Target="/ppt/slides/slide10.xml" Id="R6f4289a9f32b4bde" /><Relationship Type="http://schemas.openxmlformats.org/officeDocument/2006/relationships/slide" Target="/ppt/slides/slide11.xml" Id="R29c9a137c6ed41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0f91aad40a43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ed24484cf1418d" /><Relationship Type="http://schemas.openxmlformats.org/officeDocument/2006/relationships/notesMaster" Target="/ppt/notesMasters/notesMaster1.xml" Id="R45c5075ac2174c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948ad9887743db" /><Relationship Type="http://schemas.openxmlformats.org/officeDocument/2006/relationships/notesMaster" Target="/ppt/notesMasters/notesMaster1.xml" Id="Reac6b618d3b542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2893c3807a400c" /><Relationship Type="http://schemas.openxmlformats.org/officeDocument/2006/relationships/notesMaster" Target="/ppt/notesMasters/notesMaster1.xml" Id="R4d6aa39a86e94d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5be072dcbe492c" /><Relationship Type="http://schemas.openxmlformats.org/officeDocument/2006/relationships/notesMaster" Target="/ppt/notesMasters/notesMaster1.xml" Id="R02fed2fa114c4b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fbba65eef54592" /><Relationship Type="http://schemas.openxmlformats.org/officeDocument/2006/relationships/notesMaster" Target="/ppt/notesMasters/notesMaster1.xml" Id="Rd07c27e7e05c43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967a50ff324ca6" /><Relationship Type="http://schemas.openxmlformats.org/officeDocument/2006/relationships/notesMaster" Target="/ppt/notesMasters/notesMaster1.xml" Id="R25d7c8a705974c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7e90b797574023" /><Relationship Type="http://schemas.openxmlformats.org/officeDocument/2006/relationships/notesMaster" Target="/ppt/notesMasters/notesMaster1.xml" Id="Ra612658db3d64f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33140384b24cb8" /><Relationship Type="http://schemas.openxmlformats.org/officeDocument/2006/relationships/notesMaster" Target="/ppt/notesMasters/notesMaster1.xml" Id="R0e107a4258574b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2517105da14334" /><Relationship Type="http://schemas.openxmlformats.org/officeDocument/2006/relationships/notesMaster" Target="/ppt/notesMasters/notesMaster1.xml" Id="Ra1ede05affd24f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3e3bef9ee84ed7" /><Relationship Type="http://schemas.openxmlformats.org/officeDocument/2006/relationships/notesMaster" Target="/ppt/notesMasters/notesMaster1.xml" Id="R9d18708662344e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1a51596c4d4e25" /><Relationship Type="http://schemas.openxmlformats.org/officeDocument/2006/relationships/notesMaster" Target="/ppt/notesMasters/notesMaster1.xml" Id="Rdb95aae186b4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開場：這不是單純做網頁，而是先用 Python 建立可重現的資料管線，再把分析結果交給前端呈現。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/Users/wangmingfang/Desktop/crawler/site/public/og.png</a:t>
            </a:r>
          </a:p>
          <a:p xmlns:a="http://schemas.openxmlformats.org/drawingml/2006/main">
            <a:r>
              <a:t>- /Users/wangmingfang/Desktop/crawler/site/public/job-radar-p0-final.html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說明專案範圍：核心是可解釋的市場分析，不把時間花在帳號系統或複雜後端。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/Users/wangmingfang/Desktop/crawler/site/public/job-radar-p0-final.html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強調分母：archive 用於市場規模；postings 用於有薪資、經驗與 applies 欄位的分析。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/Users/wangmingfang/Desktop/crawler/archive_skills_processed/data_quality_report.json</a:t>
            </a:r>
          </a:p>
          <a:p xmlns:a="http://schemas.openxmlformats.org/drawingml/2006/main">
            <a:r>
              <a:t>- /Users/wangmingfang/Downloads/postings.csv</a:t>
            </a:r>
          </a:p>
          <a:p xmlns:a="http://schemas.openxmlformats.org/drawingml/2006/main">
            <a:r>
              <a:t>- /Users/wangmingfang/Downloads/archive/job_summary.csv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這一頁是整個 Python 專案的主線：不是直接讀 CSV 畫圖，而是建立可重複執行的資料管線。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/Users/wangmingfang/Desktop/crawler/preprocess_jobs.py</a:t>
            </a:r>
          </a:p>
          <a:p xmlns:a="http://schemas.openxmlformats.org/drawingml/2006/main">
            <a:r>
              <a:t>- /Users/wangmingfang/Desktop/crawler/normalize_sources.py</a:t>
            </a:r>
          </a:p>
          <a:p xmlns:a="http://schemas.openxmlformats.org/drawingml/2006/main">
            <a:r>
              <a:t>- /Users/wangmingfang/Desktop/crawler/process_archive_skills.py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舉例：時薪 25～30 美元會先取中點，再乘 2,080，得到 57,200 美元年薪。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/Users/wangmingfang/Desktop/crawler/preprocessing_normalize.py</a:t>
            </a:r>
          </a:p>
          <a:p xmlns:a="http://schemas.openxmlformats.org/drawingml/2006/main">
            <a:r>
              <a:t>- /Users/wangmingfang/Desktop/crawler/normalize_sources.py</a:t>
            </a:r>
          </a:p>
          <a:p xmlns:a="http://schemas.openxmlformats.org/drawingml/2006/main">
            <a:r>
              <a:t>- /Users/wangmingfang/Desktop/crawler/preprocess_jobs.py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這一步修正了早期不同區塊採用不同技能合併規則的問題。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/Users/wangmingfang/Desktop/crawler/site/public/job-radar-p0-final.html</a:t>
            </a:r>
          </a:p>
          <a:p xmlns:a="http://schemas.openxmlformats.org/drawingml/2006/main">
            <a:r>
              <a:t>- /Users/wangmingfang/Desktop/crawler/data_preparation/build_dashboard_competition_data.py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提醒老師：圖上的百分比是各經驗群組提及 Python 的比例，不是所有 Python 職缺的組成比例。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/Users/wangmingfang/Desktop/crawler/site/public/job-radar-p0-final.html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這一頁交代網站目前實際生成的主要圖表格式。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/Users/wangmingfang/Desktop/crawler/site/public/job-radar-p0-final.html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分工要講清楚：分析邏輯先在 Python 產出，前端不重新計算大型原始資料。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/Users/wangmingfang/Desktop/crawler/site/public/job-dashboard-data.js</a:t>
            </a:r>
          </a:p>
          <a:p xmlns:a="http://schemas.openxmlformats.org/drawingml/2006/main">
            <a:r>
              <a:t>- /Users/wangmingfang/Desktop/crawler/site/public/competition-synthetic-data.js</a:t>
            </a:r>
          </a:p>
          <a:p xmlns:a="http://schemas.openxmlformats.org/drawingml/2006/main">
            <a:r>
              <a:t>- /Users/wangmingfang/Desktop/crawler/site/public/job-radar-p0-final.html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這一頁同時呈現工程品質與分析倫理：有測試，也主動揭露分母與估算限制。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/Users/wangmingfang/Desktop/crawler/tests/test_preprocessing_normalize.py</a:t>
            </a:r>
          </a:p>
          <a:p xmlns:a="http://schemas.openxmlformats.org/drawingml/2006/main">
            <a:r>
              <a:t>- /Users/wangmingfang/Desktop/crawler/tests/test_preprocess_jobs.py</a:t>
            </a:r>
          </a:p>
          <a:p xmlns:a="http://schemas.openxmlformats.org/drawingml/2006/main">
            <a:r>
              <a:t>- /Users/wangmingfang/Desktop/crawler/data_augmented/synthetic_applies_qa.json</a:t>
            </a:r>
          </a:p>
          <a:p xmlns:a="http://schemas.openxmlformats.org/drawingml/2006/main">
            <a:r>
              <a:t>- /Users/wangmingfang/Desktop/crawler/site/tests/rendered-html.test.mjs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收尾不要只說完成網站：強調 Python 讓資料變得可信、可比較、可重現。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https://job-radar-skills.ddd3205.chatgpt.site</a:t>
            </a:r>
          </a:p>
          <a:p xmlns:a="http://schemas.openxmlformats.org/drawingml/2006/main">
            <a:r>
              <a:t>- /Users/wangmingfang/Desktop/crawler/site/public/job-radar-p0-final.html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b71da0a66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46df4a1e5244b1" /><Relationship Type="http://schemas.openxmlformats.org/officeDocument/2006/relationships/slideLayout" Target="/ppt/slideLayouts/slideLayout1.xml" Id="R1b009430b8854a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09430b8854a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480ab906348ec" /><Relationship Type="http://schemas.openxmlformats.org/officeDocument/2006/relationships/image" Target="/ppt/media/image.png" Id="R05e56f39fcfd47e5" /><Relationship Type="http://schemas.openxmlformats.org/officeDocument/2006/relationships/notesSlide" Target="/ppt/notesSlides/notesSlide1.xml" Id="Rc04c97ef524348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5cb0b848b4dae" /><Relationship Type="http://schemas.openxmlformats.org/officeDocument/2006/relationships/notesSlide" Target="/ppt/notesSlides/notesSlide2.xml" Id="R3e7d495b35e945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da835673c463c" /><Relationship Type="http://schemas.openxmlformats.org/officeDocument/2006/relationships/notesSlide" Target="/ppt/notesSlides/notesSlide3.xml" Id="R198446f4e65d40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e5c847ef84a49" /><Relationship Type="http://schemas.openxmlformats.org/officeDocument/2006/relationships/notesSlide" Target="/ppt/notesSlides/notesSlide4.xml" Id="Rcc4c9e57053c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a1f72d00944fe" /><Relationship Type="http://schemas.openxmlformats.org/officeDocument/2006/relationships/notesSlide" Target="/ppt/notesSlides/notesSlide5.xml" Id="Rda1ee24c5f8d45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605c9cd684084" /><Relationship Type="http://schemas.openxmlformats.org/officeDocument/2006/relationships/notesSlide" Target="/ppt/notesSlides/notesSlide6.xml" Id="R736e4c129b354e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f0be4d3bb4f9e" /><Relationship Type="http://schemas.openxmlformats.org/officeDocument/2006/relationships/chart" Target="/ppt/slides/charts/chart1.xml" Id="R510af38efde44c52" /><Relationship Type="http://schemas.openxmlformats.org/officeDocument/2006/relationships/notesSlide" Target="/ppt/notesSlides/notesSlide7.xml" Id="Rbf522385afbc44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5fa4e5ba04efe" /><Relationship Type="http://schemas.openxmlformats.org/officeDocument/2006/relationships/notesSlide" Target="/ppt/notesSlides/notesSlide8.xml" Id="Re64d9767ed0e4e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25d729d034e5e" /><Relationship Type="http://schemas.openxmlformats.org/officeDocument/2006/relationships/notesSlide" Target="/ppt/notesSlides/notesSlide9.xml" Id="R97f48ef1738d40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14b925d794280" /><Relationship Type="http://schemas.openxmlformats.org/officeDocument/2006/relationships/notesSlide" Target="/ppt/notesSlides/notesSlide10.xml" Id="R3009b40b49ff4c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0b2a74aaa4593" /><Relationship Type="http://schemas.openxmlformats.org/officeDocument/2006/relationships/notesSlide" Target="/ppt/notesSlides/notesSlide11.xml" Id="R847de120b9034a0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提及 Python 的職缺比例</c:v>
          </c:tx>
          <c:spPr>
            <a:solidFill xmlns:a="http://schemas.openxmlformats.org/drawingml/2006/main">
              <a:srgbClr val="3B82F6"/>
            </a:solidFill>
          </c:spPr>
          <c:cat>
            <c:strLit>
              <c:ptCount val="3"/>
              <c:pt idx="0">
                <c:v>Entry</c:v>
              </c:pt>
              <c:pt idx="1">
                <c:v>Mid-Senior</c:v>
              </c:pt>
              <c:pt idx="2">
                <c:v>Manager</c:v>
              </c:pt>
            </c:strLit>
          </c:cat>
          <c:val>
            <c:numLit>
              <c:formatCode>0.0%</c:formatCode>
              <c:ptCount val="3"/>
              <c:pt idx="0">
                <c:v>0.018</c:v>
              </c:pt>
              <c:pt idx="1">
                <c:v>0.05</c:v>
              </c:pt>
              <c:pt idx="2">
                <c:v>0.013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F172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72768"/>
      </c:catAx>
      <c:valAx>
        <c:axId val="48672768"/>
        <c:scaling>
          <c:orientation val="minMax"/>
          <c:max val="0.0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</a:p>
        </c:txPr>
        <c:crossAx val="48650112"/>
        <c:crossBetween val="between"/>
        <c:majorUnit val="0.0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CBD5E1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56f39fcfd47e5"/>
          <a:srcRect xmlns:a="http://schemas.openxmlformats.org/drawingml/2006/main" l="27377" t="0" r="273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-0-0">
            <a:extLst xmlns:a="http://schemas.openxmlformats.org/drawingml/2006/main">
              <a:ext uri="{FF2B5EF4-FFF2-40B4-BE49-F238E27FC236}">
                <a16:creationId xmlns:a16="http://schemas.microsoft.com/office/drawing/2014/main" id="{04C9129F-3782-4B62-922F-5354116F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shape-56-62">
            <a:extLst xmlns:a="http://schemas.openxmlformats.org/drawingml/2006/main">
              <a:ext uri="{FF2B5EF4-FFF2-40B4-BE49-F238E27FC236}">
                <a16:creationId xmlns:a16="http://schemas.microsoft.com/office/drawing/2014/main" id="{C603EE02-3BAA-451B-AC00-D11F85B1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" name="text-56-114">
            <a:extLst xmlns:a="http://schemas.openxmlformats.org/drawingml/2006/main">
              <a:ext uri="{FF2B5EF4-FFF2-40B4-BE49-F238E27FC236}">
                <a16:creationId xmlns:a16="http://schemas.microsoft.com/office/drawing/2014/main" id="{142D6098-93C3-4E90-BCE5-3056AF69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58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4350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</a:t>
            </a:r>
          </a:p>
        </p:txBody>
      </p:sp>
      <p:sp>
        <p:nvSpPr>
          <p:cNvPr id="5" name="text-56-220">
            <a:extLst xmlns:a="http://schemas.openxmlformats.org/drawingml/2006/main">
              <a:ext uri="{FF2B5EF4-FFF2-40B4-BE49-F238E27FC236}">
                <a16:creationId xmlns:a16="http://schemas.microsoft.com/office/drawing/2014/main" id="{9EAFC169-A481-4EF9-BE45-54C93C22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職缺市場分析儀表板</a:t>
            </a:r>
          </a:p>
        </p:txBody>
      </p:sp>
      <p:sp>
        <p:nvSpPr>
          <p:cNvPr id="6" name="text-56-326">
            <a:extLst xmlns:a="http://schemas.openxmlformats.org/drawingml/2006/main">
              <a:ext uri="{FF2B5EF4-FFF2-40B4-BE49-F238E27FC236}">
                <a16:creationId xmlns:a16="http://schemas.microsoft.com/office/drawing/2014/main" id="{EB570758-B0FE-4E16-B18D-9B49A46B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用 Python 將 130 萬級職缺資料</a:t>
            </a:r>
          </a:p>
          <a:p xmlns:a="http://schemas.openxmlformats.org/drawingml/2006/main">
            <a:pPr algn="l">
              <a:def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轉成可互動的市場洞察</a:t>
            </a:r>
          </a:p>
        </p:txBody>
      </p:sp>
      <p:sp>
        <p:nvSpPr>
          <p:cNvPr id="7" name="text-56-572">
            <a:extLst xmlns:a="http://schemas.openxmlformats.org/drawingml/2006/main">
              <a:ext uri="{FF2B5EF4-FFF2-40B4-BE49-F238E27FC236}">
                <a16:creationId xmlns:a16="http://schemas.microsoft.com/office/drawing/2014/main" id="{B526DD3F-EA06-4363-9568-C36963F1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Python 課程專案報告</a:t>
            </a:r>
          </a:p>
        </p:txBody>
      </p:sp>
      <p:sp>
        <p:nvSpPr>
          <p:cNvPr id="8" name="text-56-616">
            <a:extLst xmlns:a="http://schemas.openxmlformats.org/drawingml/2006/main">
              <a:ext uri="{FF2B5EF4-FFF2-40B4-BE49-F238E27FC236}">
                <a16:creationId xmlns:a16="http://schemas.microsoft.com/office/drawing/2014/main" id="{542CF79A-06B2-4F24-A0BC-68D3759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資料處理 · 統計分析 · 互動視覺化</a:t>
            </a:r>
          </a:p>
        </p:txBody>
      </p:sp>
      <p:sp>
        <p:nvSpPr>
          <p:cNvPr id="9" name="text-590-666">
            <a:extLst xmlns:a="http://schemas.openxmlformats.org/drawingml/2006/main">
              <a:ext uri="{FF2B5EF4-FFF2-40B4-BE49-F238E27FC236}">
                <a16:creationId xmlns:a16="http://schemas.microsoft.com/office/drawing/2014/main" id="{E1890985-E80D-407C-95DF-9B94A526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343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92474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F291DD6-053B-4C33-8422-9DF3B1D5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C84F27F-1B74-428A-92D2-7064FB9F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專案要回答的，是求職者真正會問的問題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20BD1D-097D-466D-A142-45C5343A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5" name="text-56-172">
            <a:extLst xmlns:a="http://schemas.openxmlformats.org/drawingml/2006/main">
              <a:ext uri="{FF2B5EF4-FFF2-40B4-BE49-F238E27FC236}">
                <a16:creationId xmlns:a16="http://schemas.microsoft.com/office/drawing/2014/main" id="{14F95451-C7FE-474B-BF65-935C5D1F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把大量職缺文字與欄位，整理成三類可行動訊號。</a:t>
            </a:r>
          </a:p>
        </p:txBody>
      </p:sp>
      <p:sp>
        <p:nvSpPr>
          <p:cNvPr id="6" name="text-56-268">
            <a:extLst xmlns:a="http://schemas.openxmlformats.org/drawingml/2006/main">
              <a:ext uri="{FF2B5EF4-FFF2-40B4-BE49-F238E27FC236}">
                <a16:creationId xmlns:a16="http://schemas.microsoft.com/office/drawing/2014/main" id="{8B04753A-8DB8-4741-AB00-8B3915FD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533400" y="3105150"/>
            <a:ext cx="30861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E40AF"/>
            </a:solidFill>
            <a:prstDash val="solid"/>
          </a:ln>
        </p:spPr>
      </p:cxnSp>
      <p:sp>
        <p:nvSpPr>
          <p:cNvPr id="8" name="text-56-356">
            <a:extLst xmlns:a="http://schemas.openxmlformats.org/drawingml/2006/main">
              <a:ext uri="{FF2B5EF4-FFF2-40B4-BE49-F238E27FC236}">
                <a16:creationId xmlns:a16="http://schemas.microsoft.com/office/drawing/2014/main" id="{86CDC3D0-6F85-4FB1-816E-C335C314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市場在哪裡？</a:t>
            </a:r>
          </a:p>
        </p:txBody>
      </p:sp>
      <p:sp>
        <p:nvSpPr>
          <p:cNvPr id="9" name="text-56-420">
            <a:extLst xmlns:a="http://schemas.openxmlformats.org/drawingml/2006/main">
              <a:ext uri="{FF2B5EF4-FFF2-40B4-BE49-F238E27FC236}">
                <a16:creationId xmlns:a16="http://schemas.microsoft.com/office/drawing/2014/main" id="{2EEE72F4-C863-488F-80AF-B4C84B7C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3086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熱門職務、公司與城市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用全量職缺計數呈現市場分布</a:t>
            </a:r>
          </a:p>
        </p:txBody>
      </p:sp>
      <p:sp>
        <p:nvSpPr>
          <p:cNvPr id="10" name="text-444-268">
            <a:extLst xmlns:a="http://schemas.openxmlformats.org/drawingml/2006/main">
              <a:ext uri="{FF2B5EF4-FFF2-40B4-BE49-F238E27FC236}">
                <a16:creationId xmlns:a16="http://schemas.microsoft.com/office/drawing/2014/main" id="{F7528144-EC9E-49BE-92F3-67396074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52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229100" y="3105150"/>
            <a:ext cx="30861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E40AF"/>
            </a:solidFill>
            <a:prstDash val="solid"/>
          </a:ln>
        </p:spPr>
      </p:cxnSp>
      <p:sp>
        <p:nvSpPr>
          <p:cNvPr id="12" name="text-444-356">
            <a:extLst xmlns:a="http://schemas.openxmlformats.org/drawingml/2006/main">
              <a:ext uri="{FF2B5EF4-FFF2-40B4-BE49-F238E27FC236}">
                <a16:creationId xmlns:a16="http://schemas.microsoft.com/office/drawing/2014/main" id="{BCCEC2BC-B470-42BA-8F83-DADDC320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909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技能怎麼準備？</a:t>
            </a:r>
          </a:p>
        </p:txBody>
      </p:sp>
      <p:sp>
        <p:nvSpPr>
          <p:cNvPr id="13" name="text-444-420">
            <a:extLst xmlns:a="http://schemas.openxmlformats.org/drawingml/2006/main">
              <a:ext uri="{FF2B5EF4-FFF2-40B4-BE49-F238E27FC236}">
                <a16:creationId xmlns:a16="http://schemas.microsoft.com/office/drawing/2014/main" id="{A053FC6A-FE7C-495F-A082-01A77F02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00500"/>
            <a:ext cx="3086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技能排行、技能組合與經驗層級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看懂能力需求如何一起出現</a:t>
            </a:r>
          </a:p>
        </p:txBody>
      </p:sp>
      <p:sp>
        <p:nvSpPr>
          <p:cNvPr id="14" name="text-832-268">
            <a:extLst xmlns:a="http://schemas.openxmlformats.org/drawingml/2006/main">
              <a:ext uri="{FF2B5EF4-FFF2-40B4-BE49-F238E27FC236}">
                <a16:creationId xmlns:a16="http://schemas.microsoft.com/office/drawing/2014/main" id="{907C3E6A-CAB9-46CD-BB96-D37F49CE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7924800" y="3105150"/>
            <a:ext cx="308610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97706"/>
            </a:solidFill>
            <a:prstDash val="solid"/>
          </a:ln>
        </p:spPr>
      </p:cxnSp>
      <p:sp>
        <p:nvSpPr>
          <p:cNvPr id="16" name="text-832-356">
            <a:extLst xmlns:a="http://schemas.openxmlformats.org/drawingml/2006/main">
              <a:ext uri="{FF2B5EF4-FFF2-40B4-BE49-F238E27FC236}">
                <a16:creationId xmlns:a16="http://schemas.microsoft.com/office/drawing/2014/main" id="{5D985F10-BA0D-44F6-8902-6212813B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競爭與報酬如何？</a:t>
            </a:r>
          </a:p>
        </p:txBody>
      </p:sp>
      <p:sp>
        <p:nvSpPr>
          <p:cNvPr id="17" name="text-832-420">
            <a:extLst xmlns:a="http://schemas.openxmlformats.org/drawingml/2006/main">
              <a:ext uri="{FF2B5EF4-FFF2-40B4-BE49-F238E27FC236}">
                <a16:creationId xmlns:a16="http://schemas.microsoft.com/office/drawing/2014/main" id="{72373A23-3FB0-4742-A66A-FDC9FCA6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00500"/>
            <a:ext cx="30861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薪資中位數、四分位數與應徵分布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把職涯選擇放回市場脈絡</a:t>
            </a:r>
          </a:p>
        </p:txBody>
      </p:sp>
      <p:sp>
        <p:nvSpPr>
          <p:cNvPr id="18" name="text-56-614">
            <a:extLst xmlns:a="http://schemas.openxmlformats.org/drawingml/2006/main">
              <a:ext uri="{FF2B5EF4-FFF2-40B4-BE49-F238E27FC236}">
                <a16:creationId xmlns:a16="http://schemas.microsoft.com/office/drawing/2014/main" id="{36EF290D-82A7-4771-B8F9-3D3E3D29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成果定位：不做登入與推薦系統，聚焦在資料分析、搜尋篩選與技能連動。</a:t>
            </a:r>
          </a:p>
        </p:txBody>
      </p:sp>
    </p:spTree>
    <p:extLst>
      <p:ext uri="{BB962C8B-B14F-4D97-AF65-F5344CB8AC3E}">
        <p14:creationId xmlns:p14="http://schemas.microsoft.com/office/powerpoint/2010/main" val="1102471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93DBAEE6-FF55-4421-918B-29734932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4969DA-314A-4B62-A842-175389F3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兩套 LinkedIn 資料，各自負責不同分析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A4C3431-FE91-4B57-AD27-302E85B8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5" name="text-56-172">
            <a:extLst xmlns:a="http://schemas.openxmlformats.org/drawingml/2006/main">
              <a:ext uri="{FF2B5EF4-FFF2-40B4-BE49-F238E27FC236}">
                <a16:creationId xmlns:a16="http://schemas.microsoft.com/office/drawing/2014/main" id="{CBEEE973-56C3-448D-A36B-133DA825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先固定每項分析的資料母體，避免把不同資料集的絕對筆數混在一起比較。</a:t>
            </a:r>
          </a:p>
        </p:txBody>
      </p:sp>
      <p:sp>
        <p:nvSpPr>
          <p:cNvPr id="6" name="shape-56-264">
            <a:extLst xmlns:a="http://schemas.openxmlformats.org/drawingml/2006/main">
              <a:ext uri="{FF2B5EF4-FFF2-40B4-BE49-F238E27FC236}">
                <a16:creationId xmlns:a16="http://schemas.microsoft.com/office/drawing/2014/main" id="{562B9E08-FD55-4175-8095-8B1D91C8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shape-56-264">
            <a:extLst xmlns:a="http://schemas.openxmlformats.org/drawingml/2006/main">
              <a:ext uri="{FF2B5EF4-FFF2-40B4-BE49-F238E27FC236}">
                <a16:creationId xmlns:a16="http://schemas.microsoft.com/office/drawing/2014/main" id="{E8603DEA-5F7E-4C95-AF46-F667D123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8" name="text-86-300">
            <a:extLst xmlns:a="http://schemas.openxmlformats.org/drawingml/2006/main">
              <a:ext uri="{FF2B5EF4-FFF2-40B4-BE49-F238E27FC236}">
                <a16:creationId xmlns:a16="http://schemas.microsoft.com/office/drawing/2014/main" id="{9BED9765-C9DE-411B-B12A-89E0F2B1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1,348,454</a:t>
            </a:r>
          </a:p>
        </p:txBody>
      </p:sp>
      <p:sp>
        <p:nvSpPr>
          <p:cNvPr id="9" name="text-86-380">
            <a:extLst xmlns:a="http://schemas.openxmlformats.org/drawingml/2006/main">
              <a:ext uri="{FF2B5EF4-FFF2-40B4-BE49-F238E27FC236}">
                <a16:creationId xmlns:a16="http://schemas.microsoft.com/office/drawing/2014/main" id="{0BA22271-1560-4E01-805C-23696D64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archive 主表職缺</a:t>
            </a:r>
          </a:p>
        </p:txBody>
      </p:sp>
      <p:sp>
        <p:nvSpPr>
          <p:cNvPr id="10" name="text-86-428">
            <a:extLst xmlns:a="http://schemas.openxmlformats.org/drawingml/2006/main">
              <a:ext uri="{FF2B5EF4-FFF2-40B4-BE49-F238E27FC236}">
                <a16:creationId xmlns:a16="http://schemas.microsoft.com/office/drawing/2014/main" id="{5785E703-6EA1-4918-8C3E-B5108322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職務、公司、地點與市場分布</a:t>
            </a:r>
          </a:p>
        </p:txBody>
      </p:sp>
      <p:sp>
        <p:nvSpPr>
          <p:cNvPr id="11" name="shape-465-264">
            <a:extLst xmlns:a="http://schemas.openxmlformats.org/drawingml/2006/main">
              <a:ext uri="{FF2B5EF4-FFF2-40B4-BE49-F238E27FC236}">
                <a16:creationId xmlns:a16="http://schemas.microsoft.com/office/drawing/2014/main" id="{FCD38D5B-C88E-4534-AB4D-7B6A3838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146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shape-465-264">
            <a:extLst xmlns:a="http://schemas.openxmlformats.org/drawingml/2006/main">
              <a:ext uri="{FF2B5EF4-FFF2-40B4-BE49-F238E27FC236}">
                <a16:creationId xmlns:a16="http://schemas.microsoft.com/office/drawing/2014/main" id="{EC9FF023-74C0-44F5-BD65-BFB05A85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146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3" name="text-495-300">
            <a:extLst xmlns:a="http://schemas.openxmlformats.org/drawingml/2006/main">
              <a:ext uri="{FF2B5EF4-FFF2-40B4-BE49-F238E27FC236}">
                <a16:creationId xmlns:a16="http://schemas.microsoft.com/office/drawing/2014/main" id="{99FD3AF7-9142-4BA8-8BC5-B6B49476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575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B82F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3B82F6"/>
                </a:solidFill>
                <a:latin typeface="PingFang TC"/>
                <a:ea typeface="PingFang TC"/>
                <a:cs typeface="PingFang TC"/>
              </a:rPr>
              <a:t>1,296,381</a:t>
            </a:r>
          </a:p>
        </p:txBody>
      </p:sp>
      <p:sp>
        <p:nvSpPr>
          <p:cNvPr id="14" name="text-495-380">
            <a:extLst xmlns:a="http://schemas.openxmlformats.org/drawingml/2006/main">
              <a:ext uri="{FF2B5EF4-FFF2-40B4-BE49-F238E27FC236}">
                <a16:creationId xmlns:a16="http://schemas.microsoft.com/office/drawing/2014/main" id="{38E824A3-3191-4A1A-B052-F996B1BA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19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archive 技能資料</a:t>
            </a:r>
          </a:p>
        </p:txBody>
      </p:sp>
      <p:sp>
        <p:nvSpPr>
          <p:cNvPr id="15" name="text-495-428">
            <a:extLst xmlns:a="http://schemas.openxmlformats.org/drawingml/2006/main">
              <a:ext uri="{FF2B5EF4-FFF2-40B4-BE49-F238E27FC236}">
                <a16:creationId xmlns:a16="http://schemas.microsoft.com/office/drawing/2014/main" id="{E45C8C8B-A718-4F76-8D7E-0D8F99C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767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技能覆蓋率 96.1% · 技能組合</a:t>
            </a:r>
          </a:p>
        </p:txBody>
      </p:sp>
      <p:sp>
        <p:nvSpPr>
          <p:cNvPr id="16" name="shape-874-264">
            <a:extLst xmlns:a="http://schemas.openxmlformats.org/drawingml/2006/main">
              <a:ext uri="{FF2B5EF4-FFF2-40B4-BE49-F238E27FC236}">
                <a16:creationId xmlns:a16="http://schemas.microsoft.com/office/drawing/2014/main" id="{3F15E1F0-9E71-4660-8062-64167A07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3333750" cy="224790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shape-874-264">
            <a:extLst xmlns:a="http://schemas.openxmlformats.org/drawingml/2006/main">
              <a:ext uri="{FF2B5EF4-FFF2-40B4-BE49-F238E27FC236}">
                <a16:creationId xmlns:a16="http://schemas.microsoft.com/office/drawing/2014/main" id="{F380DBCC-0042-4689-B01C-4FBDB890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76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text-904-300">
            <a:extLst xmlns:a="http://schemas.openxmlformats.org/drawingml/2006/main">
              <a:ext uri="{FF2B5EF4-FFF2-40B4-BE49-F238E27FC236}">
                <a16:creationId xmlns:a16="http://schemas.microsoft.com/office/drawing/2014/main" id="{DE655584-1662-41EF-979E-C8CE776A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575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123,849</a:t>
            </a:r>
          </a:p>
        </p:txBody>
      </p:sp>
      <p:sp>
        <p:nvSpPr>
          <p:cNvPr id="19" name="text-904-380">
            <a:extLst xmlns:a="http://schemas.openxmlformats.org/drawingml/2006/main">
              <a:ext uri="{FF2B5EF4-FFF2-40B4-BE49-F238E27FC236}">
                <a16:creationId xmlns:a16="http://schemas.microsoft.com/office/drawing/2014/main" id="{09E55248-21E8-4B00-9242-EBC7F389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19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postings 職缺</a:t>
            </a:r>
          </a:p>
        </p:txBody>
      </p:sp>
      <p:sp>
        <p:nvSpPr>
          <p:cNvPr id="20" name="text-904-428">
            <a:extLst xmlns:a="http://schemas.openxmlformats.org/drawingml/2006/main">
              <a:ext uri="{FF2B5EF4-FFF2-40B4-BE49-F238E27FC236}">
                <a16:creationId xmlns:a16="http://schemas.microsoft.com/office/drawing/2014/main" id="{DF204DC9-ADED-435F-BE07-7B925A1A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767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薪資、經驗層級與應徵競爭</a:t>
            </a:r>
          </a:p>
        </p:txBody>
      </p:sp>
      <p:sp>
        <p:nvSpPr>
          <p:cNvPr id="21" name="text-56-620">
            <a:extLst xmlns:a="http://schemas.openxmlformats.org/drawingml/2006/main">
              <a:ext uri="{FF2B5EF4-FFF2-40B4-BE49-F238E27FC236}">
                <a16:creationId xmlns:a16="http://schemas.microsoft.com/office/drawing/2014/main" id="{9ECDB8DA-3B6A-4896-B671-1BE53B61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job_summary 約 4.8 GB：完成格式與串接測試，但未作為最終網站的主要計算來源。</a:t>
            </a:r>
          </a:p>
        </p:txBody>
      </p:sp>
    </p:spTree>
    <p:extLst>
      <p:ext uri="{BB962C8B-B14F-4D97-AF65-F5344CB8AC3E}">
        <p14:creationId xmlns:p14="http://schemas.microsoft.com/office/powerpoint/2010/main" val="1759366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94675D9D-190F-4B2F-AAFB-EFEC53A4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F9AA94-3799-4CF6-95ED-A085D22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Python 管線把大型 CSV 轉成瀏覽器可用的資料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35FF8E-213A-4330-A352-0D334B48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857250" y="3286125"/>
            <a:ext cx="10382250" cy="9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93C5FD"/>
            </a:solidFill>
            <a:prstDash val="solid"/>
          </a:ln>
        </p:spPr>
      </p:cxnSp>
      <p:sp>
        <p:nvSpPr>
          <p:cNvPr id="6" name="shape-86-329">
            <a:extLst xmlns:a="http://schemas.openxmlformats.org/drawingml/2006/main">
              <a:ext uri="{FF2B5EF4-FFF2-40B4-BE49-F238E27FC236}">
                <a16:creationId xmlns:a16="http://schemas.microsoft.com/office/drawing/2014/main" id="{B83D333C-B37A-43C0-A0A1-EB277040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7" name="text-68-274">
            <a:extLst xmlns:a="http://schemas.openxmlformats.org/drawingml/2006/main">
              <a:ext uri="{FF2B5EF4-FFF2-40B4-BE49-F238E27FC236}">
                <a16:creationId xmlns:a16="http://schemas.microsoft.com/office/drawing/2014/main" id="{85F7C86B-7033-419E-972D-CE2D3031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讀取</a:t>
            </a:r>
          </a:p>
        </p:txBody>
      </p:sp>
      <p:sp>
        <p:nvSpPr>
          <p:cNvPr id="8" name="text-68-390">
            <a:extLst xmlns:a="http://schemas.openxmlformats.org/drawingml/2006/main">
              <a:ext uri="{FF2B5EF4-FFF2-40B4-BE49-F238E27FC236}">
                <a16:creationId xmlns:a16="http://schemas.microsoft.com/office/drawing/2014/main" id="{0CC428D0-607F-4DD2-9CC5-40D50E8D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60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chunksize 分批讀取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避免一次載入數 GB</a:t>
            </a:r>
          </a:p>
        </p:txBody>
      </p:sp>
      <p:sp>
        <p:nvSpPr>
          <p:cNvPr id="9" name="shape-288-329">
            <a:extLst xmlns:a="http://schemas.openxmlformats.org/drawingml/2006/main">
              <a:ext uri="{FF2B5EF4-FFF2-40B4-BE49-F238E27FC236}">
                <a16:creationId xmlns:a16="http://schemas.microsoft.com/office/drawing/2014/main" id="{9924C722-6C12-46B5-8217-15AA1108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0" name="text-270-274">
            <a:extLst xmlns:a="http://schemas.openxmlformats.org/drawingml/2006/main">
              <a:ext uri="{FF2B5EF4-FFF2-40B4-BE49-F238E27FC236}">
                <a16:creationId xmlns:a16="http://schemas.microsoft.com/office/drawing/2014/main" id="{1664B1B0-9B2E-470E-9500-82770FF9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098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清理</a:t>
            </a:r>
          </a:p>
        </p:txBody>
      </p:sp>
      <p:sp>
        <p:nvSpPr>
          <p:cNvPr id="11" name="text-270-390">
            <a:extLst xmlns:a="http://schemas.openxmlformats.org/drawingml/2006/main">
              <a:ext uri="{FF2B5EF4-FFF2-40B4-BE49-F238E27FC236}">
                <a16:creationId xmlns:a16="http://schemas.microsoft.com/office/drawing/2014/main" id="{EE198C03-5D2E-4B94-B4DB-5FB6BCA3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160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文字、日期、網址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薪資與類別標準化</a:t>
            </a:r>
          </a:p>
        </p:txBody>
      </p:sp>
      <p:sp>
        <p:nvSpPr>
          <p:cNvPr id="12" name="shape-490-329">
            <a:extLst xmlns:a="http://schemas.openxmlformats.org/drawingml/2006/main">
              <a:ext uri="{FF2B5EF4-FFF2-40B4-BE49-F238E27FC236}">
                <a16:creationId xmlns:a16="http://schemas.microsoft.com/office/drawing/2014/main" id="{C2F91DED-726F-4121-8A8D-EDF0F6EF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" name="text-472-274">
            <a:extLst xmlns:a="http://schemas.openxmlformats.org/drawingml/2006/main">
              <a:ext uri="{FF2B5EF4-FFF2-40B4-BE49-F238E27FC236}">
                <a16:creationId xmlns:a16="http://schemas.microsoft.com/office/drawing/2014/main" id="{FF118A1B-A371-4504-AC1C-035A29F9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串接</a:t>
            </a:r>
          </a:p>
        </p:txBody>
      </p:sp>
      <p:sp>
        <p:nvSpPr>
          <p:cNvPr id="14" name="text-472-390">
            <a:extLst xmlns:a="http://schemas.openxmlformats.org/drawingml/2006/main">
              <a:ext uri="{FF2B5EF4-FFF2-40B4-BE49-F238E27FC236}">
                <a16:creationId xmlns:a16="http://schemas.microsoft.com/office/drawing/2014/main" id="{1B041CEB-11EF-47B8-A7F7-DB593052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14750"/>
            <a:ext cx="160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job_key＋SQLite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連結主表與技能表</a:t>
            </a:r>
          </a:p>
        </p:txBody>
      </p:sp>
      <p:sp>
        <p:nvSpPr>
          <p:cNvPr id="15" name="shape-692-329">
            <a:extLst xmlns:a="http://schemas.openxmlformats.org/drawingml/2006/main">
              <a:ext uri="{FF2B5EF4-FFF2-40B4-BE49-F238E27FC236}">
                <a16:creationId xmlns:a16="http://schemas.microsoft.com/office/drawing/2014/main" id="{3A2A9B89-A4D1-43C5-9884-86527FF3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text-674-274">
            <a:extLst xmlns:a="http://schemas.openxmlformats.org/drawingml/2006/main">
              <a:ext uri="{FF2B5EF4-FFF2-40B4-BE49-F238E27FC236}">
                <a16:creationId xmlns:a16="http://schemas.microsoft.com/office/drawing/2014/main" id="{986D18BA-F494-4615-AE2C-07741C89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驗證</a:t>
            </a:r>
          </a:p>
        </p:txBody>
      </p:sp>
      <p:sp>
        <p:nvSpPr>
          <p:cNvPr id="17" name="text-674-390">
            <a:extLst xmlns:a="http://schemas.openxmlformats.org/drawingml/2006/main">
              <a:ext uri="{FF2B5EF4-FFF2-40B4-BE49-F238E27FC236}">
                <a16:creationId xmlns:a16="http://schemas.microsoft.com/office/drawing/2014/main" id="{6CF4C250-01A4-4CD0-8C1F-2572A76E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160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缺失、重複、異常值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產生品質報告</a:t>
            </a:r>
          </a:p>
        </p:txBody>
      </p:sp>
      <p:sp>
        <p:nvSpPr>
          <p:cNvPr id="18" name="shape-894-329">
            <a:extLst xmlns:a="http://schemas.openxmlformats.org/drawingml/2006/main">
              <a:ext uri="{FF2B5EF4-FFF2-40B4-BE49-F238E27FC236}">
                <a16:creationId xmlns:a16="http://schemas.microsoft.com/office/drawing/2014/main" id="{3079B6F9-054E-4576-9E76-333C2D9B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9" name="text-876-274">
            <a:extLst xmlns:a="http://schemas.openxmlformats.org/drawingml/2006/main">
              <a:ext uri="{FF2B5EF4-FFF2-40B4-BE49-F238E27FC236}">
                <a16:creationId xmlns:a16="http://schemas.microsoft.com/office/drawing/2014/main" id="{7C477D1A-5109-411F-8B1C-78FFD704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聚合</a:t>
            </a:r>
          </a:p>
        </p:txBody>
      </p:sp>
      <p:sp>
        <p:nvSpPr>
          <p:cNvPr id="20" name="text-876-390">
            <a:extLst xmlns:a="http://schemas.openxmlformats.org/drawingml/2006/main">
              <a:ext uri="{FF2B5EF4-FFF2-40B4-BE49-F238E27FC236}">
                <a16:creationId xmlns:a16="http://schemas.microsoft.com/office/drawing/2014/main" id="{6565EBA1-140F-4849-A0E3-6F12F909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14750"/>
            <a:ext cx="160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groupby、百分位數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技能共現與分布</a:t>
            </a:r>
          </a:p>
        </p:txBody>
      </p:sp>
      <p:sp>
        <p:nvSpPr>
          <p:cNvPr id="21" name="shape-1096-329">
            <a:extLst xmlns:a="http://schemas.openxmlformats.org/drawingml/2006/main">
              <a:ext uri="{FF2B5EF4-FFF2-40B4-BE49-F238E27FC236}">
                <a16:creationId xmlns:a16="http://schemas.microsoft.com/office/drawing/2014/main" id="{EF964565-8D8B-484D-8DDF-66FCDB65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133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2" name="text-1078-274">
            <a:extLst xmlns:a="http://schemas.openxmlformats.org/drawingml/2006/main">
              <a:ext uri="{FF2B5EF4-FFF2-40B4-BE49-F238E27FC236}">
                <a16:creationId xmlns:a16="http://schemas.microsoft.com/office/drawing/2014/main" id="{527B339A-CDCA-4E52-8A41-5BC9F8EE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098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輸出</a:t>
            </a:r>
          </a:p>
        </p:txBody>
      </p:sp>
      <p:sp>
        <p:nvSpPr>
          <p:cNvPr id="23" name="text-1078-390">
            <a:extLst xmlns:a="http://schemas.openxmlformats.org/drawingml/2006/main">
              <a:ext uri="{FF2B5EF4-FFF2-40B4-BE49-F238E27FC236}">
                <a16:creationId xmlns:a16="http://schemas.microsoft.com/office/drawing/2014/main" id="{57DE523C-BCF8-4B1C-9A31-1E3B426B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14750"/>
            <a:ext cx="160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精簡 JSON／JS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交給前端互動呈現</a:t>
            </a:r>
          </a:p>
        </p:txBody>
      </p:sp>
      <p:sp>
        <p:nvSpPr>
          <p:cNvPr id="24" name="text-56-600">
            <a:extLst xmlns:a="http://schemas.openxmlformats.org/drawingml/2006/main">
              <a:ext uri="{FF2B5EF4-FFF2-40B4-BE49-F238E27FC236}">
                <a16:creationId xmlns:a16="http://schemas.microsoft.com/office/drawing/2014/main" id="{6532E13C-6747-4764-BF77-9D2A976E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原始資料保持唯讀；所有衍生欄位與品質資訊都寫入新檔。</a:t>
            </a:r>
          </a:p>
        </p:txBody>
      </p:sp>
    </p:spTree>
    <p:extLst>
      <p:ext uri="{BB962C8B-B14F-4D97-AF65-F5344CB8AC3E}">
        <p14:creationId xmlns:p14="http://schemas.microsoft.com/office/powerpoint/2010/main" val="20310355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3D57CE3C-06A1-4328-BE25-6C088D66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396D5A-2634-4C30-BE4A-C8F882B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前處理先解決四個最容易誤導分析的問題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284773-9586-4B8B-937C-EA32B909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5" name="shape-56-180">
            <a:extLst xmlns:a="http://schemas.openxmlformats.org/drawingml/2006/main">
              <a:ext uri="{FF2B5EF4-FFF2-40B4-BE49-F238E27FC236}">
                <a16:creationId xmlns:a16="http://schemas.microsoft.com/office/drawing/2014/main" id="{44659BEB-DC55-49C2-BF03-4E2BABE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197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shape-640-180">
            <a:extLst xmlns:a="http://schemas.openxmlformats.org/drawingml/2006/main">
              <a:ext uri="{FF2B5EF4-FFF2-40B4-BE49-F238E27FC236}">
                <a16:creationId xmlns:a16="http://schemas.microsoft.com/office/drawing/2014/main" id="{014A61F8-1D13-4E55-8040-41C91D64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5626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-86-212">
            <a:extLst xmlns:a="http://schemas.openxmlformats.org/drawingml/2006/main">
              <a:ext uri="{FF2B5EF4-FFF2-40B4-BE49-F238E27FC236}">
                <a16:creationId xmlns:a16="http://schemas.microsoft.com/office/drawing/2014/main" id="{A90639FC-BA32-483A-9E76-75E90196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欄位與識別碼</a:t>
            </a:r>
          </a:p>
        </p:txBody>
      </p:sp>
      <p:sp>
        <p:nvSpPr>
          <p:cNvPr id="8" name="shape-88-286">
            <a:extLst xmlns:a="http://schemas.openxmlformats.org/drawingml/2006/main">
              <a:ext uri="{FF2B5EF4-FFF2-40B4-BE49-F238E27FC236}">
                <a16:creationId xmlns:a16="http://schemas.microsoft.com/office/drawing/2014/main" id="{CD72AFBA-846C-4EE4-AE97-946AC3EA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9" name="text-112-278">
            <a:extLst xmlns:a="http://schemas.openxmlformats.org/drawingml/2006/main">
              <a:ext uri="{FF2B5EF4-FFF2-40B4-BE49-F238E27FC236}">
                <a16:creationId xmlns:a16="http://schemas.microsoft.com/office/drawing/2014/main" id="{F88560A5-B533-427A-B5FC-BD413AE4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424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網址去除參數與錨點，建立統一 job_key</a:t>
            </a:r>
          </a:p>
        </p:txBody>
      </p:sp>
      <p:sp>
        <p:nvSpPr>
          <p:cNvPr id="10" name="shape-88-354">
            <a:extLst xmlns:a="http://schemas.openxmlformats.org/drawingml/2006/main">
              <a:ext uri="{FF2B5EF4-FFF2-40B4-BE49-F238E27FC236}">
                <a16:creationId xmlns:a16="http://schemas.microsoft.com/office/drawing/2014/main" id="{3CC0C178-FEA1-4B8C-8C67-1BF2C088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11" name="text-112-346">
            <a:extLst xmlns:a="http://schemas.openxmlformats.org/drawingml/2006/main">
              <a:ext uri="{FF2B5EF4-FFF2-40B4-BE49-F238E27FC236}">
                <a16:creationId xmlns:a16="http://schemas.microsoft.com/office/drawing/2014/main" id="{0E1E7E01-30DC-4FF7-B56F-38CEC770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424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日期轉成 UTC；布林值統一成 0／1</a:t>
            </a:r>
          </a:p>
        </p:txBody>
      </p:sp>
      <p:sp>
        <p:nvSpPr>
          <p:cNvPr id="12" name="shape-88-422">
            <a:extLst xmlns:a="http://schemas.openxmlformats.org/drawingml/2006/main">
              <a:ext uri="{FF2B5EF4-FFF2-40B4-BE49-F238E27FC236}">
                <a16:creationId xmlns:a16="http://schemas.microsoft.com/office/drawing/2014/main" id="{90424BC8-AA24-49D5-A7C6-634FF4FA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13" name="text-112-414">
            <a:extLst xmlns:a="http://schemas.openxmlformats.org/drawingml/2006/main">
              <a:ext uri="{FF2B5EF4-FFF2-40B4-BE49-F238E27FC236}">
                <a16:creationId xmlns:a16="http://schemas.microsoft.com/office/drawing/2014/main" id="{C6DF1566-ED75-4F54-9C90-4AF30135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424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HTML、Unicode 與多餘空白清理</a:t>
            </a:r>
          </a:p>
        </p:txBody>
      </p:sp>
      <p:sp>
        <p:nvSpPr>
          <p:cNvPr id="14" name="shape-88-490">
            <a:extLst xmlns:a="http://schemas.openxmlformats.org/drawingml/2006/main">
              <a:ext uri="{FF2B5EF4-FFF2-40B4-BE49-F238E27FC236}">
                <a16:creationId xmlns:a16="http://schemas.microsoft.com/office/drawing/2014/main" id="{2DE94DE1-763C-4EAC-8FE0-2F7FF77F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15" name="text-112-482">
            <a:extLst xmlns:a="http://schemas.openxmlformats.org/drawingml/2006/main">
              <a:ext uri="{FF2B5EF4-FFF2-40B4-BE49-F238E27FC236}">
                <a16:creationId xmlns:a16="http://schemas.microsoft.com/office/drawing/2014/main" id="{FE60F3B4-8495-4E23-97FB-FDDDA216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424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使用 SQLite 串接主表與技能表</a:t>
            </a:r>
          </a:p>
        </p:txBody>
      </p:sp>
      <p:sp>
        <p:nvSpPr>
          <p:cNvPr id="16" name="text-674-212">
            <a:extLst xmlns:a="http://schemas.openxmlformats.org/drawingml/2006/main">
              <a:ext uri="{FF2B5EF4-FFF2-40B4-BE49-F238E27FC236}">
                <a16:creationId xmlns:a16="http://schemas.microsoft.com/office/drawing/2014/main" id="{1A62E815-FE33-4762-8C3F-B931ABB7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分析欄位</a:t>
            </a:r>
          </a:p>
        </p:txBody>
      </p:sp>
      <p:sp>
        <p:nvSpPr>
          <p:cNvPr id="17" name="shape-676-286">
            <a:extLst xmlns:a="http://schemas.openxmlformats.org/drawingml/2006/main">
              <a:ext uri="{FF2B5EF4-FFF2-40B4-BE49-F238E27FC236}">
                <a16:creationId xmlns:a16="http://schemas.microsoft.com/office/drawing/2014/main" id="{5C688A30-2D71-4C19-9D10-C9639069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text-700-278">
            <a:extLst xmlns:a="http://schemas.openxmlformats.org/drawingml/2006/main">
              <a:ext uri="{FF2B5EF4-FFF2-40B4-BE49-F238E27FC236}">
                <a16:creationId xmlns:a16="http://schemas.microsoft.com/office/drawing/2014/main" id="{71C5D793-0AFD-41AE-9992-28C2629C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443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Hourly／Monthly 等薪資換算成年薪</a:t>
            </a:r>
          </a:p>
        </p:txBody>
      </p:sp>
      <p:sp>
        <p:nvSpPr>
          <p:cNvPr id="19" name="shape-676-354">
            <a:extLst xmlns:a="http://schemas.openxmlformats.org/drawingml/2006/main">
              <a:ext uri="{FF2B5EF4-FFF2-40B4-BE49-F238E27FC236}">
                <a16:creationId xmlns:a16="http://schemas.microsoft.com/office/drawing/2014/main" id="{775D5DCC-6602-4229-847F-497E68AE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0" name="text-700-346">
            <a:extLst xmlns:a="http://schemas.openxmlformats.org/drawingml/2006/main">
              <a:ext uri="{FF2B5EF4-FFF2-40B4-BE49-F238E27FC236}">
                <a16:creationId xmlns:a16="http://schemas.microsoft.com/office/drawing/2014/main" id="{F742D574-62D3-40C8-A0E0-C89925FA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443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地點拆成 country、region、city</a:t>
            </a:r>
          </a:p>
        </p:txBody>
      </p:sp>
      <p:sp>
        <p:nvSpPr>
          <p:cNvPr id="21" name="shape-676-422">
            <a:extLst xmlns:a="http://schemas.openxmlformats.org/drawingml/2006/main">
              <a:ext uri="{FF2B5EF4-FFF2-40B4-BE49-F238E27FC236}">
                <a16:creationId xmlns:a16="http://schemas.microsoft.com/office/drawing/2014/main" id="{C869401F-752A-4F89-8FE3-F586868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19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2" name="text-700-414">
            <a:extLst xmlns:a="http://schemas.openxmlformats.org/drawingml/2006/main">
              <a:ext uri="{FF2B5EF4-FFF2-40B4-BE49-F238E27FC236}">
                <a16:creationId xmlns:a16="http://schemas.microsoft.com/office/drawing/2014/main" id="{EDA29150-45E6-4E64-9BA9-CEDC579D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43350"/>
            <a:ext cx="443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工作型態與經驗層級使用統一分類</a:t>
            </a:r>
          </a:p>
        </p:txBody>
      </p:sp>
      <p:sp>
        <p:nvSpPr>
          <p:cNvPr id="23" name="shape-676-490">
            <a:extLst xmlns:a="http://schemas.openxmlformats.org/drawingml/2006/main">
              <a:ext uri="{FF2B5EF4-FFF2-40B4-BE49-F238E27FC236}">
                <a16:creationId xmlns:a16="http://schemas.microsoft.com/office/drawing/2014/main" id="{2F3E0F14-3179-4D5A-8C0F-4B734704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text-700-482">
            <a:extLst xmlns:a="http://schemas.openxmlformats.org/drawingml/2006/main">
              <a:ext uri="{FF2B5EF4-FFF2-40B4-BE49-F238E27FC236}">
                <a16:creationId xmlns:a16="http://schemas.microsoft.com/office/drawing/2014/main" id="{67CF437A-19D9-4908-B39D-317B7C5B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438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異常薪資、缺失值與重複鍵留下旗標</a:t>
            </a:r>
          </a:p>
        </p:txBody>
      </p:sp>
      <p:sp>
        <p:nvSpPr>
          <p:cNvPr id="25" name="text-56-626">
            <a:extLst xmlns:a="http://schemas.openxmlformats.org/drawingml/2006/main">
              <a:ext uri="{FF2B5EF4-FFF2-40B4-BE49-F238E27FC236}">
                <a16:creationId xmlns:a16="http://schemas.microsoft.com/office/drawing/2014/main" id="{54D23102-05BE-4C4B-93C8-3702C0EE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Python 模組：pandas、NumPy、csv、SQLite、re、hashlib、json、pathlib</a:t>
            </a:r>
          </a:p>
        </p:txBody>
      </p:sp>
    </p:spTree>
    <p:extLst>
      <p:ext uri="{BB962C8B-B14F-4D97-AF65-F5344CB8AC3E}">
        <p14:creationId xmlns:p14="http://schemas.microsoft.com/office/powerpoint/2010/main" val="843516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C38204BB-570D-4132-9DEB-E1F20D4B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835D47-8FF1-4C73-A833-EAB0E9D1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技能名稱統一後，25 個技能才可公平連動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7805C0-B4FC-4474-B71A-28E1C3C7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5" name="text-56-168">
            <a:extLst xmlns:a="http://schemas.openxmlformats.org/drawingml/2006/main">
              <a:ext uri="{FF2B5EF4-FFF2-40B4-BE49-F238E27FC236}">
                <a16:creationId xmlns:a16="http://schemas.microsoft.com/office/drawing/2014/main" id="{D05D4DED-B501-4DEB-B387-7DDEDA7D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36 種別名先轉小寫、移除標點、合併空白，再映射到標準技能。</a:t>
            </a:r>
          </a:p>
        </p:txBody>
      </p:sp>
      <p:sp>
        <p:nvSpPr>
          <p:cNvPr id="6" name="text-70-250">
            <a:extLst xmlns:a="http://schemas.openxmlformats.org/drawingml/2006/main">
              <a:ext uri="{FF2B5EF4-FFF2-40B4-BE49-F238E27FC236}">
                <a16:creationId xmlns:a16="http://schemas.microsoft.com/office/drawing/2014/main" id="{52E251FB-31BC-4E09-A46F-E5BA86FC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problem solving</a:t>
            </a:r>
          </a:p>
        </p:txBody>
      </p:sp>
      <p:sp>
        <p:nvSpPr>
          <p:cNvPr id="7" name="text-310-250">
            <a:extLst xmlns:a="http://schemas.openxmlformats.org/drawingml/2006/main">
              <a:ext uri="{FF2B5EF4-FFF2-40B4-BE49-F238E27FC236}">
                <a16:creationId xmlns:a16="http://schemas.microsoft.com/office/drawing/2014/main" id="{193077A5-8DAD-4FF5-9651-9EC26943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problem-solving</a:t>
            </a:r>
          </a:p>
        </p:txBody>
      </p:sp>
      <p:sp>
        <p:nvSpPr>
          <p:cNvPr id="8" name="text-530-250">
            <a:extLst xmlns:a="http://schemas.openxmlformats.org/drawingml/2006/main">
              <a:ext uri="{FF2B5EF4-FFF2-40B4-BE49-F238E27FC236}">
                <a16:creationId xmlns:a16="http://schemas.microsoft.com/office/drawing/2014/main" id="{17714749-BD90-4E4B-91F5-8F535851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problemsolving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7239000" y="2571750"/>
            <a:ext cx="11239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3C5FD"/>
            </a:solidFill>
            <a:prstDash val="solid"/>
          </a:ln>
        </p:spPr>
      </p:cxnSp>
      <p:sp>
        <p:nvSpPr>
          <p:cNvPr id="10" name="shape-870-242">
            <a:extLst xmlns:a="http://schemas.openxmlformats.org/drawingml/2006/main">
              <a:ext uri="{FF2B5EF4-FFF2-40B4-BE49-F238E27FC236}">
                <a16:creationId xmlns:a16="http://schemas.microsoft.com/office/drawing/2014/main" id="{72CD1A1A-EE02-4B09-B1AA-8663C4FB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05050"/>
            <a:ext cx="3238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1" name="text-894-255">
            <a:extLst xmlns:a="http://schemas.openxmlformats.org/drawingml/2006/main">
              <a:ext uri="{FF2B5EF4-FFF2-40B4-BE49-F238E27FC236}">
                <a16:creationId xmlns:a16="http://schemas.microsoft.com/office/drawing/2014/main" id="{AF24C177-14B5-4D0E-9072-960706FF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288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Problem Solving</a:t>
            </a:r>
          </a:p>
        </p:txBody>
      </p:sp>
      <p:sp>
        <p:nvSpPr>
          <p:cNvPr id="12" name="text-70-360">
            <a:extLst xmlns:a="http://schemas.openxmlformats.org/drawingml/2006/main">
              <a:ext uri="{FF2B5EF4-FFF2-40B4-BE49-F238E27FC236}">
                <a16:creationId xmlns:a16="http://schemas.microsoft.com/office/drawing/2014/main" id="{A144C785-2902-4905-ADA8-88AF7FD0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Power BI</a:t>
            </a:r>
          </a:p>
        </p:txBody>
      </p:sp>
      <p:sp>
        <p:nvSpPr>
          <p:cNvPr id="13" name="text-310-360">
            <a:extLst xmlns:a="http://schemas.openxmlformats.org/drawingml/2006/main">
              <a:ext uri="{FF2B5EF4-FFF2-40B4-BE49-F238E27FC236}">
                <a16:creationId xmlns:a16="http://schemas.microsoft.com/office/drawing/2014/main" id="{F2C9ECF3-DBC9-40CC-8C2F-293B34CA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PowerBI</a:t>
            </a:r>
          </a:p>
        </p:txBody>
      </p:sp>
      <p:sp>
        <p:nvSpPr>
          <p:cNvPr id="14" name="text-530-360">
            <a:extLst xmlns:a="http://schemas.openxmlformats.org/drawingml/2006/main">
              <a:ext uri="{FF2B5EF4-FFF2-40B4-BE49-F238E27FC236}">
                <a16:creationId xmlns:a16="http://schemas.microsoft.com/office/drawing/2014/main" id="{CB54C3D8-4C50-4D09-8AD6-7222483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power-bi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7239000" y="3619500"/>
            <a:ext cx="11239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3C5FD"/>
            </a:solidFill>
            <a:prstDash val="solid"/>
          </a:ln>
        </p:spPr>
      </p:cxnSp>
      <p:sp>
        <p:nvSpPr>
          <p:cNvPr id="16" name="shape-870-352">
            <a:extLst xmlns:a="http://schemas.openxmlformats.org/drawingml/2006/main">
              <a:ext uri="{FF2B5EF4-FFF2-40B4-BE49-F238E27FC236}">
                <a16:creationId xmlns:a16="http://schemas.microsoft.com/office/drawing/2014/main" id="{4C0D4D32-B7D5-43DB-914B-408C65BE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3238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7" name="text-894-365">
            <a:extLst xmlns:a="http://schemas.openxmlformats.org/drawingml/2006/main">
              <a:ext uri="{FF2B5EF4-FFF2-40B4-BE49-F238E27FC236}">
                <a16:creationId xmlns:a16="http://schemas.microsoft.com/office/drawing/2014/main" id="{6FB73F00-B7AC-453D-91A0-BBE757F6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Power BI</a:t>
            </a:r>
          </a:p>
        </p:txBody>
      </p:sp>
      <p:sp>
        <p:nvSpPr>
          <p:cNvPr id="18" name="text-70-470">
            <a:extLst xmlns:a="http://schemas.openxmlformats.org/drawingml/2006/main">
              <a:ext uri="{FF2B5EF4-FFF2-40B4-BE49-F238E27FC236}">
                <a16:creationId xmlns:a16="http://schemas.microsoft.com/office/drawing/2014/main" id="{AA8F7444-B48F-4796-84CD-7A88758E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Microsoft Office</a:t>
            </a:r>
          </a:p>
        </p:txBody>
      </p:sp>
      <p:sp>
        <p:nvSpPr>
          <p:cNvPr id="19" name="text-310-470">
            <a:extLst xmlns:a="http://schemas.openxmlformats.org/drawingml/2006/main">
              <a:ext uri="{FF2B5EF4-FFF2-40B4-BE49-F238E27FC236}">
                <a16:creationId xmlns:a16="http://schemas.microsoft.com/office/drawing/2014/main" id="{D35647ED-687D-49F5-AE1C-7DCA17C6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76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MS Office</a:t>
            </a:r>
          </a:p>
        </p:txBody>
      </p:sp>
      <p:sp>
        <p:nvSpPr>
          <p:cNvPr id="20" name="text-530-470">
            <a:extLst xmlns:a="http://schemas.openxmlformats.org/drawingml/2006/main">
              <a:ext uri="{FF2B5EF4-FFF2-40B4-BE49-F238E27FC236}">
                <a16:creationId xmlns:a16="http://schemas.microsoft.com/office/drawing/2014/main" id="{8C57FC05-906A-481A-B75E-BF1D671C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767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475569"/>
                </a:solidFill>
                <a:latin typeface="Menlo"/>
                <a:ea typeface="Menlo"/>
                <a:cs typeface="Menlo"/>
              </a:rPr>
              <a:t>office suite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239000" y="4667250"/>
            <a:ext cx="112395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3C5FD"/>
            </a:solidFill>
            <a:prstDash val="solid"/>
          </a:ln>
        </p:spPr>
      </p:cxnSp>
      <p:sp>
        <p:nvSpPr>
          <p:cNvPr id="22" name="shape-870-462">
            <a:extLst xmlns:a="http://schemas.openxmlformats.org/drawingml/2006/main">
              <a:ext uri="{FF2B5EF4-FFF2-40B4-BE49-F238E27FC236}">
                <a16:creationId xmlns:a16="http://schemas.microsoft.com/office/drawing/2014/main" id="{FCD118B4-5678-4022-B419-017DE1FF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00550"/>
            <a:ext cx="3238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3" name="text-894-475">
            <a:extLst xmlns:a="http://schemas.openxmlformats.org/drawingml/2006/main">
              <a:ext uri="{FF2B5EF4-FFF2-40B4-BE49-F238E27FC236}">
                <a16:creationId xmlns:a16="http://schemas.microsoft.com/office/drawing/2014/main" id="{E29BE72C-9B31-4779-A29E-1C9990BA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24375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Microsoft Office Suite</a:t>
            </a:r>
          </a:p>
        </p:txBody>
      </p:sp>
      <p:sp>
        <p:nvSpPr>
          <p:cNvPr id="24" name="text-70-600">
            <a:extLst xmlns:a="http://schemas.openxmlformats.org/drawingml/2006/main">
              <a:ext uri="{FF2B5EF4-FFF2-40B4-BE49-F238E27FC236}">
                <a16:creationId xmlns:a16="http://schemas.microsoft.com/office/drawing/2014/main" id="{9F8ADADD-3944-462F-AA69-96880AC5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完整詞組比對可避免 SQL 等短字串誤配到其他單字。</a:t>
            </a:r>
          </a:p>
        </p:txBody>
      </p:sp>
    </p:spTree>
    <p:extLst>
      <p:ext uri="{BB962C8B-B14F-4D97-AF65-F5344CB8AC3E}">
        <p14:creationId xmlns:p14="http://schemas.microsoft.com/office/powerpoint/2010/main" val="924249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03CB83B7-0CCD-4258-9CA7-C7ACFC0D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6D3C5-FFB0-4DB4-B537-077E905C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Python 職缺最集中在 Mid-Senior，典型年薪約 14 萬美元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A737AC-35C5-4567-9213-329694C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33400" y="1809750"/>
          <a:ext xmlns:a="http://schemas.openxmlformats.org/drawingml/2006/main" cx="6000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0af38efde44c52"/>
          </a:graphicData>
        </a:graphic>
      </p:graphicFrame>
      <p:sp>
        <p:nvSpPr>
          <p:cNvPr id="6" name="shape-728-190">
            <a:extLst xmlns:a="http://schemas.openxmlformats.org/drawingml/2006/main">
              <a:ext uri="{FF2B5EF4-FFF2-40B4-BE49-F238E27FC236}">
                <a16:creationId xmlns:a16="http://schemas.microsoft.com/office/drawing/2014/main" id="{B7430740-24D1-4678-B70B-780FE4A7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724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text-760-216">
            <a:extLst xmlns:a="http://schemas.openxmlformats.org/drawingml/2006/main">
              <a:ext uri="{FF2B5EF4-FFF2-40B4-BE49-F238E27FC236}">
                <a16:creationId xmlns:a16="http://schemas.microsoft.com/office/drawing/2014/main" id="{A22F79B9-4275-4F3F-99C5-70070601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$140,000</a:t>
            </a:r>
          </a:p>
        </p:txBody>
      </p:sp>
      <p:sp>
        <p:nvSpPr>
          <p:cNvPr id="8" name="text-980-228">
            <a:extLst xmlns:a="http://schemas.openxmlformats.org/drawingml/2006/main">
              <a:ext uri="{FF2B5EF4-FFF2-40B4-BE49-F238E27FC236}">
                <a16:creationId xmlns:a16="http://schemas.microsoft.com/office/drawing/2014/main" id="{B00F5F10-1B9C-40B5-8B44-AF1A9E56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71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年薪中位數</a:t>
            </a:r>
          </a:p>
        </p:txBody>
      </p:sp>
      <p:sp>
        <p:nvSpPr>
          <p:cNvPr id="9" name="shape-728-330">
            <a:extLst xmlns:a="http://schemas.openxmlformats.org/drawingml/2006/main">
              <a:ext uri="{FF2B5EF4-FFF2-40B4-BE49-F238E27FC236}">
                <a16:creationId xmlns:a16="http://schemas.microsoft.com/office/drawing/2014/main" id="{8649B80B-4FFF-42D2-AD2F-9453DE20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4724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text-760-356">
            <a:extLst xmlns:a="http://schemas.openxmlformats.org/drawingml/2006/main">
              <a:ext uri="{FF2B5EF4-FFF2-40B4-BE49-F238E27FC236}">
                <a16:creationId xmlns:a16="http://schemas.microsoft.com/office/drawing/2014/main" id="{3DEA2861-7596-4D03-8C6E-E88018AC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5 人</a:t>
            </a:r>
          </a:p>
        </p:txBody>
      </p:sp>
      <p:sp>
        <p:nvSpPr>
          <p:cNvPr id="11" name="text-930-350">
            <a:extLst xmlns:a="http://schemas.openxmlformats.org/drawingml/2006/main">
              <a:ext uri="{FF2B5EF4-FFF2-40B4-BE49-F238E27FC236}">
                <a16:creationId xmlns:a16="http://schemas.microsoft.com/office/drawing/2014/main" id="{7E0BF12B-F7CF-466C-AC73-BDFBFB6F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一般職缺應徵中位數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僅採公開 applies</a:t>
            </a:r>
          </a:p>
        </p:txBody>
      </p:sp>
      <p:sp>
        <p:nvSpPr>
          <p:cNvPr id="12" name="shape-728-470">
            <a:extLst xmlns:a="http://schemas.openxmlformats.org/drawingml/2006/main">
              <a:ext uri="{FF2B5EF4-FFF2-40B4-BE49-F238E27FC236}">
                <a16:creationId xmlns:a16="http://schemas.microsoft.com/office/drawing/2014/main" id="{86773119-473A-465A-A376-0C76B0F9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76750"/>
            <a:ext cx="47244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3" name="text-760-494">
            <a:extLst xmlns:a="http://schemas.openxmlformats.org/drawingml/2006/main">
              <a:ext uri="{FF2B5EF4-FFF2-40B4-BE49-F238E27FC236}">
                <a16:creationId xmlns:a16="http://schemas.microsoft.com/office/drawing/2014/main" id="{78D9F46C-3B8A-4F48-BC9B-4A4C836E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053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最常搭配 SQL</a:t>
            </a:r>
          </a:p>
        </p:txBody>
      </p:sp>
      <p:sp>
        <p:nvSpPr>
          <p:cNvPr id="14" name="text-760-544">
            <a:extLst xmlns:a="http://schemas.openxmlformats.org/drawingml/2006/main">
              <a:ext uri="{FF2B5EF4-FFF2-40B4-BE49-F238E27FC236}">
                <a16:creationId xmlns:a16="http://schemas.microsoft.com/office/drawing/2014/main" id="{94F954A7-3497-4514-8864-45BC21B1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Python 與 SQL 共同出現在 9,959 筆 archive 技能職缺。</a:t>
            </a:r>
          </a:p>
        </p:txBody>
      </p:sp>
    </p:spTree>
    <p:extLst>
      <p:ext uri="{BB962C8B-B14F-4D97-AF65-F5344CB8AC3E}">
        <p14:creationId xmlns:p14="http://schemas.microsoft.com/office/powerpoint/2010/main" val="1241339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0A5EF691-6D4C-43F0-BAD8-6B35BDB8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05A6BE-0838-4038-AF69-E775158E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不同分析問題，改用不同圖表而非全部長條圖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571873-5418-4BBF-8AD4-92C95218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5" name="shape-56-188">
            <a:extLst xmlns:a="http://schemas.openxmlformats.org/drawingml/2006/main">
              <a:ext uri="{FF2B5EF4-FFF2-40B4-BE49-F238E27FC236}">
                <a16:creationId xmlns:a16="http://schemas.microsoft.com/office/drawing/2014/main" id="{6C995F58-43EC-4C2B-A1C8-ACF138B3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419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shape-56-188">
            <a:extLst xmlns:a="http://schemas.openxmlformats.org/drawingml/2006/main">
              <a:ext uri="{FF2B5EF4-FFF2-40B4-BE49-F238E27FC236}">
                <a16:creationId xmlns:a16="http://schemas.microsoft.com/office/drawing/2014/main" id="{D115584F-B266-4E33-AD61-CE2AF791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7" name="text-76-214">
            <a:extLst xmlns:a="http://schemas.openxmlformats.org/drawingml/2006/main">
              <a:ext uri="{FF2B5EF4-FFF2-40B4-BE49-F238E27FC236}">
                <a16:creationId xmlns:a16="http://schemas.microsoft.com/office/drawing/2014/main" id="{19F97727-B9C6-4683-AF24-560F5674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排名</a:t>
            </a:r>
          </a:p>
        </p:txBody>
      </p:sp>
      <p:sp>
        <p:nvSpPr>
          <p:cNvPr id="8" name="text-76-262">
            <a:extLst xmlns:a="http://schemas.openxmlformats.org/drawingml/2006/main">
              <a:ext uri="{FF2B5EF4-FFF2-40B4-BE49-F238E27FC236}">
                <a16:creationId xmlns:a16="http://schemas.microsoft.com/office/drawing/2014/main" id="{5376B001-0162-4F32-A7F8-5841E188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職務需求排行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前三名排名卡＋其餘名次</a:t>
            </a:r>
          </a:p>
        </p:txBody>
      </p:sp>
      <p:sp>
        <p:nvSpPr>
          <p:cNvPr id="9" name="shape-348-188">
            <a:extLst xmlns:a="http://schemas.openxmlformats.org/drawingml/2006/main">
              <a:ext uri="{FF2B5EF4-FFF2-40B4-BE49-F238E27FC236}">
                <a16:creationId xmlns:a16="http://schemas.microsoft.com/office/drawing/2014/main" id="{939A224F-50C3-476B-AB15-64DDFABC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90700"/>
            <a:ext cx="2419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shape-348-188">
            <a:extLst xmlns:a="http://schemas.openxmlformats.org/drawingml/2006/main">
              <a:ext uri="{FF2B5EF4-FFF2-40B4-BE49-F238E27FC236}">
                <a16:creationId xmlns:a16="http://schemas.microsoft.com/office/drawing/2014/main" id="{C420D2FE-8D9E-467A-9411-4235FFA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9070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11" name="text-368-214">
            <a:extLst xmlns:a="http://schemas.openxmlformats.org/drawingml/2006/main">
              <a:ext uri="{FF2B5EF4-FFF2-40B4-BE49-F238E27FC236}">
                <a16:creationId xmlns:a16="http://schemas.microsoft.com/office/drawing/2014/main" id="{0A46539F-84C0-4CBF-979E-1E34068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38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B82F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3B82F6"/>
                </a:solidFill>
                <a:latin typeface="PingFang TC"/>
                <a:ea typeface="PingFang TC"/>
                <a:cs typeface="PingFang TC"/>
              </a:rPr>
              <a:t>占比</a:t>
            </a:r>
          </a:p>
        </p:txBody>
      </p:sp>
      <p:sp>
        <p:nvSpPr>
          <p:cNvPr id="12" name="text-368-262">
            <a:extLst xmlns:a="http://schemas.openxmlformats.org/drawingml/2006/main">
              <a:ext uri="{FF2B5EF4-FFF2-40B4-BE49-F238E27FC236}">
                <a16:creationId xmlns:a16="http://schemas.microsoft.com/office/drawing/2014/main" id="{47679CF9-609B-4482-8872-B8B67DD5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公司職缺量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矩形樹圖</a:t>
            </a:r>
          </a:p>
        </p:txBody>
      </p:sp>
      <p:sp>
        <p:nvSpPr>
          <p:cNvPr id="13" name="shape-640-188">
            <a:extLst xmlns:a="http://schemas.openxmlformats.org/drawingml/2006/main">
              <a:ext uri="{FF2B5EF4-FFF2-40B4-BE49-F238E27FC236}">
                <a16:creationId xmlns:a16="http://schemas.microsoft.com/office/drawing/2014/main" id="{7660300B-4B91-408B-AC80-BF1968D5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419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shape-640-188">
            <a:extLst xmlns:a="http://schemas.openxmlformats.org/drawingml/2006/main">
              <a:ext uri="{FF2B5EF4-FFF2-40B4-BE49-F238E27FC236}">
                <a16:creationId xmlns:a16="http://schemas.microsoft.com/office/drawing/2014/main" id="{1ADDAB8D-23FB-41D1-93E2-419CBF33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text-660-214">
            <a:extLst xmlns:a="http://schemas.openxmlformats.org/drawingml/2006/main">
              <a:ext uri="{FF2B5EF4-FFF2-40B4-BE49-F238E27FC236}">
                <a16:creationId xmlns:a16="http://schemas.microsoft.com/office/drawing/2014/main" id="{FE1F7835-0F98-4A05-AB82-459F44C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F766E"/>
                </a:solidFill>
                <a:latin typeface="PingFang TC"/>
                <a:ea typeface="PingFang TC"/>
                <a:cs typeface="PingFang TC"/>
              </a:rPr>
              <a:t>關聯</a:t>
            </a:r>
          </a:p>
        </p:txBody>
      </p:sp>
      <p:sp>
        <p:nvSpPr>
          <p:cNvPr id="16" name="text-660-262">
            <a:extLst xmlns:a="http://schemas.openxmlformats.org/drawingml/2006/main">
              <a:ext uri="{FF2B5EF4-FFF2-40B4-BE49-F238E27FC236}">
                <a16:creationId xmlns:a16="http://schemas.microsoft.com/office/drawing/2014/main" id="{059E526E-A86E-4335-91A8-FCB4844A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技能組合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中心節點關聯圖</a:t>
            </a:r>
          </a:p>
        </p:txBody>
      </p:sp>
      <p:sp>
        <p:nvSpPr>
          <p:cNvPr id="17" name="shape-932-188">
            <a:extLst xmlns:a="http://schemas.openxmlformats.org/drawingml/2006/main">
              <a:ext uri="{FF2B5EF4-FFF2-40B4-BE49-F238E27FC236}">
                <a16:creationId xmlns:a16="http://schemas.microsoft.com/office/drawing/2014/main" id="{D4F30384-8199-4D63-8430-47B7B344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419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shape-932-188">
            <a:extLst xmlns:a="http://schemas.openxmlformats.org/drawingml/2006/main">
              <a:ext uri="{FF2B5EF4-FFF2-40B4-BE49-F238E27FC236}">
                <a16:creationId xmlns:a16="http://schemas.microsoft.com/office/drawing/2014/main" id="{EA2AE2F1-25CC-46CB-878A-CC7F839E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9070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text-952-214">
            <a:extLst xmlns:a="http://schemas.openxmlformats.org/drawingml/2006/main">
              <a:ext uri="{FF2B5EF4-FFF2-40B4-BE49-F238E27FC236}">
                <a16:creationId xmlns:a16="http://schemas.microsoft.com/office/drawing/2014/main" id="{65B0A7D3-A5A5-4721-A2B9-F451C102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交叉比較</a:t>
            </a:r>
          </a:p>
        </p:txBody>
      </p:sp>
      <p:sp>
        <p:nvSpPr>
          <p:cNvPr id="20" name="text-952-262">
            <a:extLst xmlns:a="http://schemas.openxmlformats.org/drawingml/2006/main">
              <a:ext uri="{FF2B5EF4-FFF2-40B4-BE49-F238E27FC236}">
                <a16:creationId xmlns:a16="http://schemas.microsoft.com/office/drawing/2014/main" id="{0E691C37-64A6-406C-B237-BF8F7B04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955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經驗層級技能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熱圖</a:t>
            </a:r>
          </a:p>
        </p:txBody>
      </p:sp>
      <p:sp>
        <p:nvSpPr>
          <p:cNvPr id="21" name="shape-56-402">
            <a:extLst xmlns:a="http://schemas.openxmlformats.org/drawingml/2006/main">
              <a:ext uri="{FF2B5EF4-FFF2-40B4-BE49-F238E27FC236}">
                <a16:creationId xmlns:a16="http://schemas.microsoft.com/office/drawing/2014/main" id="{A3C45193-E51E-4A57-B6C6-213FB853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2419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shape-56-402">
            <a:extLst xmlns:a="http://schemas.openxmlformats.org/drawingml/2006/main">
              <a:ext uri="{FF2B5EF4-FFF2-40B4-BE49-F238E27FC236}">
                <a16:creationId xmlns:a16="http://schemas.microsoft.com/office/drawing/2014/main" id="{48DC5398-5650-498F-BBDF-9C4CA710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3" name="text-76-428">
            <a:extLst xmlns:a="http://schemas.openxmlformats.org/drawingml/2006/main">
              <a:ext uri="{FF2B5EF4-FFF2-40B4-BE49-F238E27FC236}">
                <a16:creationId xmlns:a16="http://schemas.microsoft.com/office/drawing/2014/main" id="{CF635BB2-0C74-4400-AC56-480079A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580C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A580C"/>
                </a:solidFill>
                <a:latin typeface="PingFang TC"/>
                <a:ea typeface="PingFang TC"/>
                <a:cs typeface="PingFang TC"/>
              </a:rPr>
              <a:t>分布</a:t>
            </a:r>
          </a:p>
        </p:txBody>
      </p:sp>
      <p:sp>
        <p:nvSpPr>
          <p:cNvPr id="24" name="text-76-476">
            <a:extLst xmlns:a="http://schemas.openxmlformats.org/drawingml/2006/main">
              <a:ext uri="{FF2B5EF4-FFF2-40B4-BE49-F238E27FC236}">
                <a16:creationId xmlns:a16="http://schemas.microsoft.com/office/drawing/2014/main" id="{09BF01A8-65BE-4EE8-B6A8-E287CE1A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應徵人數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100% 堆疊分布</a:t>
            </a:r>
          </a:p>
        </p:txBody>
      </p:sp>
      <p:sp>
        <p:nvSpPr>
          <p:cNvPr id="25" name="shape-348-402">
            <a:extLst xmlns:a="http://schemas.openxmlformats.org/drawingml/2006/main">
              <a:ext uri="{FF2B5EF4-FFF2-40B4-BE49-F238E27FC236}">
                <a16:creationId xmlns:a16="http://schemas.microsoft.com/office/drawing/2014/main" id="{BDECF580-D465-4D6C-AD95-ED49CDFE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2419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shape-348-402">
            <a:extLst xmlns:a="http://schemas.openxmlformats.org/drawingml/2006/main">
              <a:ext uri="{FF2B5EF4-FFF2-40B4-BE49-F238E27FC236}">
                <a16:creationId xmlns:a16="http://schemas.microsoft.com/office/drawing/2014/main" id="{E6A1E2DC-E2D3-4617-BDE2-97F9EF66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2905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7" name="text-368-428">
            <a:extLst xmlns:a="http://schemas.openxmlformats.org/drawingml/2006/main">
              <a:ext uri="{FF2B5EF4-FFF2-40B4-BE49-F238E27FC236}">
                <a16:creationId xmlns:a16="http://schemas.microsoft.com/office/drawing/2014/main" id="{458995E8-D309-42EE-B77B-1C5CF41E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C3AE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區間</a:t>
            </a:r>
          </a:p>
        </p:txBody>
      </p:sp>
      <p:sp>
        <p:nvSpPr>
          <p:cNvPr id="28" name="text-368-476">
            <a:extLst xmlns:a="http://schemas.openxmlformats.org/drawingml/2006/main">
              <a:ext uri="{FF2B5EF4-FFF2-40B4-BE49-F238E27FC236}">
                <a16:creationId xmlns:a16="http://schemas.microsoft.com/office/drawing/2014/main" id="{52C86176-C038-4FEB-BEFC-EFEB4EF2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339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薪資四分位數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區間線＋職務點圖</a:t>
            </a:r>
          </a:p>
        </p:txBody>
      </p:sp>
      <p:sp>
        <p:nvSpPr>
          <p:cNvPr id="29" name="shape-640-402">
            <a:extLst xmlns:a="http://schemas.openxmlformats.org/drawingml/2006/main">
              <a:ext uri="{FF2B5EF4-FFF2-40B4-BE49-F238E27FC236}">
                <a16:creationId xmlns:a16="http://schemas.microsoft.com/office/drawing/2014/main" id="{3D42A55D-3CEB-48D7-A6E6-083460C2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2419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shape-640-402">
            <a:extLst xmlns:a="http://schemas.openxmlformats.org/drawingml/2006/main">
              <a:ext uri="{FF2B5EF4-FFF2-40B4-BE49-F238E27FC236}">
                <a16:creationId xmlns:a16="http://schemas.microsoft.com/office/drawing/2014/main" id="{60E01226-13B3-4A3D-8D1A-F5314621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1" name="text-660-428">
            <a:extLst xmlns:a="http://schemas.openxmlformats.org/drawingml/2006/main">
              <a:ext uri="{FF2B5EF4-FFF2-40B4-BE49-F238E27FC236}">
                <a16:creationId xmlns:a16="http://schemas.microsoft.com/office/drawing/2014/main" id="{4FF9F39A-8C5F-410A-8EDC-2C96C0C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91B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891B2"/>
                </a:solidFill>
                <a:latin typeface="PingFang TC"/>
                <a:ea typeface="PingFang TC"/>
                <a:cs typeface="PingFang TC"/>
              </a:rPr>
              <a:t>地理</a:t>
            </a:r>
          </a:p>
        </p:txBody>
      </p:sp>
      <p:sp>
        <p:nvSpPr>
          <p:cNvPr id="32" name="text-660-476">
            <a:extLst xmlns:a="http://schemas.openxmlformats.org/drawingml/2006/main">
              <a:ext uri="{FF2B5EF4-FFF2-40B4-BE49-F238E27FC236}">
                <a16:creationId xmlns:a16="http://schemas.microsoft.com/office/drawing/2014/main" id="{D8ABC5AF-89C5-4933-8EF0-D75058B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339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城市／地區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水平長條圖</a:t>
            </a:r>
          </a:p>
        </p:txBody>
      </p:sp>
      <p:sp>
        <p:nvSpPr>
          <p:cNvPr id="33" name="shape-932-402">
            <a:extLst xmlns:a="http://schemas.openxmlformats.org/drawingml/2006/main">
              <a:ext uri="{FF2B5EF4-FFF2-40B4-BE49-F238E27FC236}">
                <a16:creationId xmlns:a16="http://schemas.microsoft.com/office/drawing/2014/main" id="{3957820A-F746-469D-8010-1EDDE4C9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29050"/>
            <a:ext cx="24193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4" name="shape-932-402">
            <a:extLst xmlns:a="http://schemas.openxmlformats.org/drawingml/2006/main">
              <a:ext uri="{FF2B5EF4-FFF2-40B4-BE49-F238E27FC236}">
                <a16:creationId xmlns:a16="http://schemas.microsoft.com/office/drawing/2014/main" id="{C1FB4BD9-6B40-428E-964A-0E199780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29050"/>
            <a:ext cx="2419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5" name="text-952-428">
            <a:extLst xmlns:a="http://schemas.openxmlformats.org/drawingml/2006/main">
              <a:ext uri="{FF2B5EF4-FFF2-40B4-BE49-F238E27FC236}">
                <a16:creationId xmlns:a16="http://schemas.microsoft.com/office/drawing/2014/main" id="{133367E2-5F0B-4702-91FA-8AF8D0D5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摘要</a:t>
            </a:r>
          </a:p>
        </p:txBody>
      </p:sp>
      <p:sp>
        <p:nvSpPr>
          <p:cNvPr id="36" name="text-952-476">
            <a:extLst xmlns:a="http://schemas.openxmlformats.org/drawingml/2006/main">
              <a:ext uri="{FF2B5EF4-FFF2-40B4-BE49-F238E27FC236}">
                <a16:creationId xmlns:a16="http://schemas.microsoft.com/office/drawing/2014/main" id="{F08E72E9-3838-44D3-A779-91FCA3F7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339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所選技能</a:t>
            </a:r>
          </a:p>
          <a:p xmlns:a="http://schemas.openxmlformats.org/drawingml/2006/main">
            <a:pPr algn="l">
              <a:def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文字重點摘要</a:t>
            </a:r>
          </a:p>
        </p:txBody>
      </p:sp>
      <p:sp>
        <p:nvSpPr>
          <p:cNvPr id="37" name="text-56-628">
            <a:extLst xmlns:a="http://schemas.openxmlformats.org/drawingml/2006/main">
              <a:ext uri="{FF2B5EF4-FFF2-40B4-BE49-F238E27FC236}">
                <a16:creationId xmlns:a16="http://schemas.microsoft.com/office/drawing/2014/main" id="{A75D1F74-B720-459A-87D9-683FCEA4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原則：圖表類型由問題決定；面積看占比、熱圖看交叉、堆疊圖看分布。</a:t>
            </a:r>
          </a:p>
        </p:txBody>
      </p:sp>
    </p:spTree>
    <p:extLst>
      <p:ext uri="{BB962C8B-B14F-4D97-AF65-F5344CB8AC3E}">
        <p14:creationId xmlns:p14="http://schemas.microsoft.com/office/powerpoint/2010/main" val="17000678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B96A1E6A-8EFA-4152-AD29-4A342005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8CB083-2214-4F4A-B19F-2F0A51A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Python 負責資料，JavaScript 只負責互動呈現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FF2228-AA44-4922-AF0B-CA2C2AC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3086100" y="3429000"/>
            <a:ext cx="14287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93C5FD"/>
            </a:solidFill>
            <a:prstDash val="solid"/>
          </a:ln>
        </p:spPr>
      </p:cxnSp>
      <p:cxnSp>
        <p:nvCxnSpPr>
          <p:cNvPr id="23" name=""/>
          <p:cNvCxnSpPr/>
          <p:nvPr/>
        </p:nvCxnSpPr>
        <p:spPr>
          <a:xfrm xmlns:a="http://schemas.openxmlformats.org/drawingml/2006/main">
            <a:off x="7105650" y="3429000"/>
            <a:ext cx="1428750" cy="9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93C5FD"/>
            </a:solidFill>
            <a:prstDash val="solid"/>
          </a:ln>
        </p:spPr>
      </p:cxnSp>
      <p:sp>
        <p:nvSpPr>
          <p:cNvPr id="7" name="shape-56-250">
            <a:extLst xmlns:a="http://schemas.openxmlformats.org/drawingml/2006/main">
              <a:ext uri="{FF2B5EF4-FFF2-40B4-BE49-F238E27FC236}">
                <a16:creationId xmlns:a16="http://schemas.microsoft.com/office/drawing/2014/main" id="{FC956C9E-8527-4908-9ED3-4726A293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124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40AF"/>
            </a:solidFill>
            <a:prstDash val="solid"/>
          </a:ln>
        </p:spPr>
      </p:sp>
      <p:sp>
        <p:nvSpPr>
          <p:cNvPr id="8" name="text-84-286">
            <a:extLst xmlns:a="http://schemas.openxmlformats.org/drawingml/2006/main">
              <a:ext uri="{FF2B5EF4-FFF2-40B4-BE49-F238E27FC236}">
                <a16:creationId xmlns:a16="http://schemas.microsoft.com/office/drawing/2014/main" id="{25C64498-8E03-4802-B651-E57E3679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PYTHON</a:t>
            </a:r>
          </a:p>
        </p:txBody>
      </p:sp>
      <p:sp>
        <p:nvSpPr>
          <p:cNvPr id="9" name="text-84-358">
            <a:extLst xmlns:a="http://schemas.openxmlformats.org/drawingml/2006/main">
              <a:ext uri="{FF2B5EF4-FFF2-40B4-BE49-F238E27FC236}">
                <a16:creationId xmlns:a16="http://schemas.microsoft.com/office/drawing/2014/main" id="{9A951C65-6076-4A78-B425-7F032791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清理、串接、驗證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統計、聚合、輸出</a:t>
            </a:r>
          </a:p>
        </p:txBody>
      </p:sp>
      <p:sp>
        <p:nvSpPr>
          <p:cNvPr id="10" name="shape-474-250">
            <a:extLst xmlns:a="http://schemas.openxmlformats.org/drawingml/2006/main">
              <a:ext uri="{FF2B5EF4-FFF2-40B4-BE49-F238E27FC236}">
                <a16:creationId xmlns:a16="http://schemas.microsoft.com/office/drawing/2014/main" id="{32759EEB-1B8A-4D84-A749-48ABB7B2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81250"/>
            <a:ext cx="3124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11" name="text-502-286">
            <a:extLst xmlns:a="http://schemas.openxmlformats.org/drawingml/2006/main">
              <a:ext uri="{FF2B5EF4-FFF2-40B4-BE49-F238E27FC236}">
                <a16:creationId xmlns:a16="http://schemas.microsoft.com/office/drawing/2014/main" id="{99CCCBF8-EEA1-43C3-87FA-36B3C28C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241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82F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3B82F6"/>
                </a:solidFill>
                <a:latin typeface="PingFang TC"/>
                <a:ea typeface="PingFang TC"/>
                <a:cs typeface="PingFang TC"/>
              </a:rPr>
              <a:t>JSON／JS DATA</a:t>
            </a:r>
          </a:p>
        </p:txBody>
      </p:sp>
      <p:sp>
        <p:nvSpPr>
          <p:cNvPr id="12" name="text-502-358">
            <a:extLst xmlns:a="http://schemas.openxmlformats.org/drawingml/2006/main">
              <a:ext uri="{FF2B5EF4-FFF2-40B4-BE49-F238E27FC236}">
                <a16:creationId xmlns:a16="http://schemas.microsoft.com/office/drawing/2014/main" id="{DE24F813-8AB5-4D69-AE59-CA5F8423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099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縮小資料量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保留指標與分布</a:t>
            </a:r>
          </a:p>
        </p:txBody>
      </p:sp>
      <p:sp>
        <p:nvSpPr>
          <p:cNvPr id="13" name="shape-896-250">
            <a:extLst xmlns:a="http://schemas.openxmlformats.org/drawingml/2006/main">
              <a:ext uri="{FF2B5EF4-FFF2-40B4-BE49-F238E27FC236}">
                <a16:creationId xmlns:a16="http://schemas.microsoft.com/office/drawing/2014/main" id="{C918F798-D539-4CA3-9EEE-586699CF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31242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4" name="text-924-286">
            <a:extLst xmlns:a="http://schemas.openxmlformats.org/drawingml/2006/main">
              <a:ext uri="{FF2B5EF4-FFF2-40B4-BE49-F238E27FC236}">
                <a16:creationId xmlns:a16="http://schemas.microsoft.com/office/drawing/2014/main" id="{6A5FD93C-EE5F-473E-8600-91ED5031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HTML／CSS／JS</a:t>
            </a:r>
          </a:p>
        </p:txBody>
      </p:sp>
      <p:sp>
        <p:nvSpPr>
          <p:cNvPr id="15" name="text-924-358">
            <a:extLst xmlns:a="http://schemas.openxmlformats.org/drawingml/2006/main">
              <a:ext uri="{FF2B5EF4-FFF2-40B4-BE49-F238E27FC236}">
                <a16:creationId xmlns:a16="http://schemas.microsoft.com/office/drawing/2014/main" id="{8E64DC59-9D0A-4D7B-AC2F-56293E15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搜尋、篩選、技能切換</a:t>
            </a:r>
          </a:p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圖表與響應式介面</a:t>
            </a:r>
          </a:p>
        </p:txBody>
      </p:sp>
      <p:sp>
        <p:nvSpPr>
          <p:cNvPr id="16" name="text-56-550">
            <a:extLst xmlns:a="http://schemas.openxmlformats.org/drawingml/2006/main">
              <a:ext uri="{FF2B5EF4-FFF2-40B4-BE49-F238E27FC236}">
                <a16:creationId xmlns:a16="http://schemas.microsoft.com/office/drawing/2014/main" id="{C91911CC-3987-43BD-BED1-D99353FE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使用者選擇任一技能後，職務、公司、地點、組合、經驗、薪資與應徵度同步更新。</a:t>
            </a:r>
          </a:p>
        </p:txBody>
      </p:sp>
      <p:sp>
        <p:nvSpPr>
          <p:cNvPr id="17" name="text-56-626">
            <a:extLst xmlns:a="http://schemas.openxmlformats.org/drawingml/2006/main">
              <a:ext uri="{FF2B5EF4-FFF2-40B4-BE49-F238E27FC236}">
                <a16:creationId xmlns:a16="http://schemas.microsoft.com/office/drawing/2014/main" id="{8CB11C49-1B86-4A6C-8EA0-79BA0049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網站是資料快照，不是即時資料庫連線。</a:t>
            </a:r>
          </a:p>
        </p:txBody>
      </p:sp>
    </p:spTree>
    <p:extLst>
      <p:ext uri="{BB962C8B-B14F-4D97-AF65-F5344CB8AC3E}">
        <p14:creationId xmlns:p14="http://schemas.microsoft.com/office/powerpoint/2010/main" val="13880906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A33F1159-0CCB-467C-9F7F-12F8A056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JOB RADAR · PYTHON DATA 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EDF9D7-3984-4208-B823-02A3B8D4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2850" b="1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測試確保可用；限制確保不過度解讀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533400" y="13525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45D72A-7E00-4357-AB55-D193C25E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475569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5" name="text-56-182">
            <a:extLst xmlns:a="http://schemas.openxmlformats.org/drawingml/2006/main">
              <a:ext uri="{FF2B5EF4-FFF2-40B4-BE49-F238E27FC236}">
                <a16:creationId xmlns:a16="http://schemas.microsoft.com/office/drawing/2014/main" id="{BA7CAF4E-BF18-4319-9B0A-4D3CE355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40AF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E40AF"/>
                </a:solidFill>
                <a:latin typeface="PingFang TC"/>
                <a:ea typeface="PingFang TC"/>
                <a:cs typeface="PingFang TC"/>
              </a:rPr>
              <a:t>已驗證</a:t>
            </a:r>
          </a:p>
        </p:txBody>
      </p:sp>
      <p:sp>
        <p:nvSpPr>
          <p:cNvPr id="6" name="shape-58-256">
            <a:extLst xmlns:a="http://schemas.openxmlformats.org/drawingml/2006/main">
              <a:ext uri="{FF2B5EF4-FFF2-40B4-BE49-F238E27FC236}">
                <a16:creationId xmlns:a16="http://schemas.microsoft.com/office/drawing/2014/main" id="{FC7CC9DE-FCE0-4B36-A2EB-D640CE10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7" name="text-82-248">
            <a:extLst xmlns:a="http://schemas.openxmlformats.org/drawingml/2006/main">
              <a:ext uri="{FF2B5EF4-FFF2-40B4-BE49-F238E27FC236}">
                <a16:creationId xmlns:a16="http://schemas.microsoft.com/office/drawing/2014/main" id="{158B9D96-CFE0-4C4A-80C7-A8C16EAE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薪資換算、地點拆解與類別標準化</a:t>
            </a:r>
          </a:p>
        </p:txBody>
      </p:sp>
      <p:sp>
        <p:nvSpPr>
          <p:cNvPr id="8" name="shape-58-322">
            <a:extLst xmlns:a="http://schemas.openxmlformats.org/drawingml/2006/main">
              <a:ext uri="{FF2B5EF4-FFF2-40B4-BE49-F238E27FC236}">
                <a16:creationId xmlns:a16="http://schemas.microsoft.com/office/drawing/2014/main" id="{9AD30E10-4BFF-4832-87A7-1B468CCE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9" name="text-82-314">
            <a:extLst xmlns:a="http://schemas.openxmlformats.org/drawingml/2006/main">
              <a:ext uri="{FF2B5EF4-FFF2-40B4-BE49-F238E27FC236}">
                <a16:creationId xmlns:a16="http://schemas.microsoft.com/office/drawing/2014/main" id="{1C055587-6815-4B4A-ABB9-F320AD6F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大型檔案分批處理與主表串接</a:t>
            </a:r>
          </a:p>
        </p:txBody>
      </p:sp>
      <p:sp>
        <p:nvSpPr>
          <p:cNvPr id="10" name="shape-58-388">
            <a:extLst xmlns:a="http://schemas.openxmlformats.org/drawingml/2006/main">
              <a:ext uri="{FF2B5EF4-FFF2-40B4-BE49-F238E27FC236}">
                <a16:creationId xmlns:a16="http://schemas.microsoft.com/office/drawing/2014/main" id="{05EB498F-D187-4503-9E9D-B17439CA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11" name="text-82-380">
            <a:extLst xmlns:a="http://schemas.openxmlformats.org/drawingml/2006/main">
              <a:ext uri="{FF2B5EF4-FFF2-40B4-BE49-F238E27FC236}">
                <a16:creationId xmlns:a16="http://schemas.microsoft.com/office/drawing/2014/main" id="{77D1E715-B1B2-4731-A955-094735CE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公開應徵值未被估算資料覆寫</a:t>
            </a:r>
          </a:p>
        </p:txBody>
      </p:sp>
      <p:sp>
        <p:nvSpPr>
          <p:cNvPr id="12" name="shape-58-454">
            <a:extLst xmlns:a="http://schemas.openxmlformats.org/drawingml/2006/main">
              <a:ext uri="{FF2B5EF4-FFF2-40B4-BE49-F238E27FC236}">
                <a16:creationId xmlns:a16="http://schemas.microsoft.com/office/drawing/2014/main" id="{26FF02BD-5703-4DA0-852E-6A925F49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solidFill>
              <a:srgbClr val="1E40AF"/>
            </a:solidFill>
            <a:prstDash val="solid"/>
          </a:ln>
        </p:spPr>
      </p:sp>
      <p:sp>
        <p:nvSpPr>
          <p:cNvPr id="13" name="text-82-446">
            <a:extLst xmlns:a="http://schemas.openxmlformats.org/drawingml/2006/main">
              <a:ext uri="{FF2B5EF4-FFF2-40B4-BE49-F238E27FC236}">
                <a16:creationId xmlns:a16="http://schemas.microsoft.com/office/drawing/2014/main" id="{AC9A747C-1E73-4DAE-91A7-9D5E951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72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32 個技能按鈕、25 組標準技能皆連動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5905500" y="169545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BD5E1"/>
            </a:solidFill>
            <a:prstDash val="solid"/>
          </a:ln>
        </p:spPr>
      </p:cxnSp>
      <p:sp>
        <p:nvSpPr>
          <p:cNvPr id="15" name="text-674-182">
            <a:extLst xmlns:a="http://schemas.openxmlformats.org/drawingml/2006/main">
              <a:ext uri="{FF2B5EF4-FFF2-40B4-BE49-F238E27FC236}">
                <a16:creationId xmlns:a16="http://schemas.microsoft.com/office/drawing/2014/main" id="{A1757ACD-345F-428D-B5E1-A82BA0CF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97706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97706"/>
                </a:solidFill>
                <a:latin typeface="PingFang TC"/>
                <a:ea typeface="PingFang TC"/>
                <a:cs typeface="PingFang TC"/>
              </a:rPr>
              <a:t>仍需說明</a:t>
            </a:r>
          </a:p>
        </p:txBody>
      </p:sp>
      <p:sp>
        <p:nvSpPr>
          <p:cNvPr id="16" name="shape-676-256">
            <a:extLst xmlns:a="http://schemas.openxmlformats.org/drawingml/2006/main">
              <a:ext uri="{FF2B5EF4-FFF2-40B4-BE49-F238E27FC236}">
                <a16:creationId xmlns:a16="http://schemas.microsoft.com/office/drawing/2014/main" id="{A6AAFDFA-4936-41D4-9980-7F1A8DFD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text-700-248">
            <a:extLst xmlns:a="http://schemas.openxmlformats.org/drawingml/2006/main">
              <a:ext uri="{FF2B5EF4-FFF2-40B4-BE49-F238E27FC236}">
                <a16:creationId xmlns:a16="http://schemas.microsoft.com/office/drawing/2014/main" id="{A4FB4220-4831-4B90-B54D-57B02CB6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archive 與 postings 的分母不同</a:t>
            </a:r>
          </a:p>
        </p:txBody>
      </p:sp>
      <p:sp>
        <p:nvSpPr>
          <p:cNvPr id="18" name="shape-676-314">
            <a:extLst xmlns:a="http://schemas.openxmlformats.org/drawingml/2006/main">
              <a:ext uri="{FF2B5EF4-FFF2-40B4-BE49-F238E27FC236}">
                <a16:creationId xmlns:a16="http://schemas.microsoft.com/office/drawing/2014/main" id="{6FADD0B4-DFC7-46FD-A84B-04056A2F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text-700-306">
            <a:extLst xmlns:a="http://schemas.openxmlformats.org/drawingml/2006/main">
              <a:ext uri="{FF2B5EF4-FFF2-40B4-BE49-F238E27FC236}">
                <a16:creationId xmlns:a16="http://schemas.microsoft.com/office/drawing/2014/main" id="{FE671631-F2C2-4907-9E53-2C188291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技能提及不等於技能熟練程度</a:t>
            </a:r>
          </a:p>
        </p:txBody>
      </p:sp>
      <p:sp>
        <p:nvSpPr>
          <p:cNvPr id="20" name="shape-676-372">
            <a:extLst xmlns:a="http://schemas.openxmlformats.org/drawingml/2006/main">
              <a:ext uri="{FF2B5EF4-FFF2-40B4-BE49-F238E27FC236}">
                <a16:creationId xmlns:a16="http://schemas.microsoft.com/office/drawing/2014/main" id="{737DBDCD-FD4A-40A3-9085-0CEF3A28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1" name="text-700-364">
            <a:extLst xmlns:a="http://schemas.openxmlformats.org/drawingml/2006/main">
              <a:ext uri="{FF2B5EF4-FFF2-40B4-BE49-F238E27FC236}">
                <a16:creationId xmlns:a16="http://schemas.microsoft.com/office/drawing/2014/main" id="{E26C3956-2D50-40FA-A309-01D391C9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671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薪資只採有效 USD 標準化年薪</a:t>
            </a:r>
          </a:p>
        </p:txBody>
      </p:sp>
      <p:sp>
        <p:nvSpPr>
          <p:cNvPr id="22" name="shape-676-430">
            <a:extLst xmlns:a="http://schemas.openxmlformats.org/drawingml/2006/main">
              <a:ext uri="{FF2B5EF4-FFF2-40B4-BE49-F238E27FC236}">
                <a16:creationId xmlns:a16="http://schemas.microsoft.com/office/drawing/2014/main" id="{DC655A9E-8CFC-4C24-BAAD-D063FA53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3" name="text-700-422">
            <a:extLst xmlns:a="http://schemas.openxmlformats.org/drawingml/2006/main">
              <a:ext uri="{FF2B5EF4-FFF2-40B4-BE49-F238E27FC236}">
                <a16:creationId xmlns:a16="http://schemas.microsoft.com/office/drawing/2014/main" id="{16A1FCB4-7533-491E-9062-33002EF2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Manager 可與 Mid-Senior 重疊</a:t>
            </a:r>
          </a:p>
        </p:txBody>
      </p:sp>
      <p:sp>
        <p:nvSpPr>
          <p:cNvPr id="24" name="shape-676-488">
            <a:extLst xmlns:a="http://schemas.openxmlformats.org/drawingml/2006/main">
              <a:ext uri="{FF2B5EF4-FFF2-40B4-BE49-F238E27FC236}">
                <a16:creationId xmlns:a16="http://schemas.microsoft.com/office/drawing/2014/main" id="{B7CD5352-B475-4BEA-912A-861A8424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48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5" name="text-700-480">
            <a:extLst xmlns:a="http://schemas.openxmlformats.org/drawingml/2006/main">
              <a:ext uri="{FF2B5EF4-FFF2-40B4-BE49-F238E27FC236}">
                <a16:creationId xmlns:a16="http://schemas.microsoft.com/office/drawing/2014/main" id="{D6EF0D45-C3C1-4524-9EE5-BCD0EA9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4629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0F172A"/>
                </a:solidFill>
                <a:latin typeface="PingFang TC"/>
                <a:ea typeface="PingFang TC"/>
                <a:cs typeface="PingFang TC"/>
              </a:rPr>
              <a:t>估算應徵人數不是觀測事實</a:t>
            </a:r>
          </a:p>
        </p:txBody>
      </p:sp>
      <p:sp>
        <p:nvSpPr>
          <p:cNvPr id="26" name="shape-56-580">
            <a:extLst xmlns:a="http://schemas.openxmlformats.org/drawingml/2006/main">
              <a:ext uri="{FF2B5EF4-FFF2-40B4-BE49-F238E27FC236}">
                <a16:creationId xmlns:a16="http://schemas.microsoft.com/office/drawing/2014/main" id="{F4874128-ED22-4A49-9272-3002097E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27" name="text-78-596">
            <a:extLst xmlns:a="http://schemas.openxmlformats.org/drawingml/2006/main">
              <a:ext uri="{FF2B5EF4-FFF2-40B4-BE49-F238E27FC236}">
                <a16:creationId xmlns:a16="http://schemas.microsoft.com/office/drawing/2014/main" id="{6AFCFF10-B182-4043-BC48-9334010D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3412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9A3412"/>
                </a:solidFill>
                <a:latin typeface="PingFang TC"/>
                <a:ea typeface="PingFang TC"/>
                <a:cs typeface="PingFang TC"/>
              </a:rPr>
              <a:t>主要應徵指標只使用 23,320 筆公開 applies；100,529 筆估算值僅作補充研究。</a:t>
            </a:r>
          </a:p>
        </p:txBody>
      </p:sp>
    </p:spTree>
    <p:extLst>
      <p:ext uri="{BB962C8B-B14F-4D97-AF65-F5344CB8AC3E}">
        <p14:creationId xmlns:p14="http://schemas.microsoft.com/office/powerpoint/2010/main" val="45686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40A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56-52">
            <a:extLst xmlns:a="http://schemas.openxmlformats.org/drawingml/2006/main">
              <a:ext uri="{FF2B5EF4-FFF2-40B4-BE49-F238E27FC236}">
                <a16:creationId xmlns:a16="http://schemas.microsoft.com/office/drawing/2014/main" id="{75618E28-1660-4998-9487-68CB4FF2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3C5F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93C5FD"/>
                </a:solidFill>
                <a:latin typeface="PingFang TC"/>
                <a:ea typeface="PingFang TC"/>
                <a:cs typeface="PingFang TC"/>
              </a:rPr>
              <a:t>結論</a:t>
            </a:r>
          </a:p>
        </p:txBody>
      </p:sp>
      <p:sp>
        <p:nvSpPr>
          <p:cNvPr id="2" name="text-56-132">
            <a:extLst xmlns:a="http://schemas.openxmlformats.org/drawingml/2006/main">
              <a:ext uri="{FF2B5EF4-FFF2-40B4-BE49-F238E27FC236}">
                <a16:creationId xmlns:a16="http://schemas.microsoft.com/office/drawing/2014/main" id="{30FFB81E-A844-4556-93F7-4572A7F9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9810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Job Radar 的價值，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在於把原始職缺變成可解釋的決策資訊。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533400" y="3219450"/>
            <a:ext cx="111252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C5FD"/>
            </a:solidFill>
            <a:prstDash val="solid"/>
          </a:ln>
        </p:spPr>
      </p:cxnSp>
      <p:sp>
        <p:nvSpPr>
          <p:cNvPr id="4" name="text-56-382">
            <a:extLst xmlns:a="http://schemas.openxmlformats.org/drawingml/2006/main">
              <a:ext uri="{FF2B5EF4-FFF2-40B4-BE49-F238E27FC236}">
                <a16:creationId xmlns:a16="http://schemas.microsoft.com/office/drawing/2014/main" id="{BB9E422B-F9FD-48F0-88B6-468F5E58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Python 完成大型資料處理、品質檢查與統計分析；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互動網站讓使用者依技能探索職務、地點、公司、薪資與競爭度。</a:t>
            </a:r>
          </a:p>
        </p:txBody>
      </p:sp>
      <p:sp>
        <p:nvSpPr>
          <p:cNvPr id="5" name="shape-56-548">
            <a:extLst xmlns:a="http://schemas.openxmlformats.org/drawingml/2006/main">
              <a:ext uri="{FF2B5EF4-FFF2-40B4-BE49-F238E27FC236}">
                <a16:creationId xmlns:a16="http://schemas.microsoft.com/office/drawing/2014/main" id="{6A286C6B-A0F8-49D6-94CB-E7DAD312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8286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6" name="text-84-568">
            <a:extLst xmlns:a="http://schemas.openxmlformats.org/drawingml/2006/main">
              <a:ext uri="{FF2B5EF4-FFF2-40B4-BE49-F238E27FC236}">
                <a16:creationId xmlns:a16="http://schemas.microsoft.com/office/drawing/2014/main" id="{9BC360CB-32DB-4ACA-96E1-7577BD6C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job-radar-skills.ddd3205.chatgpt.site</a:t>
            </a:r>
          </a:p>
        </p:txBody>
      </p:sp>
      <p:sp>
        <p:nvSpPr>
          <p:cNvPr id="7" name="text-1170-666">
            <a:extLst xmlns:a="http://schemas.openxmlformats.org/drawingml/2006/main">
              <a:ext uri="{FF2B5EF4-FFF2-40B4-BE49-F238E27FC236}">
                <a16:creationId xmlns:a16="http://schemas.microsoft.com/office/drawing/2014/main" id="{44A28221-1E9A-4BC0-AA9D-C662DF2B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3C5FD"/>
                </a:solidFill>
                <a:latin typeface="PingFang TC"/>
                <a:ea typeface="PingFang TC"/>
                <a:cs typeface="PingFang TC"/>
              </a:defRPr>
            </a:pPr>
            <a:r>
              <a:rPr sz="975" b="0">
                <a:solidFill>
                  <a:srgbClr val="93C5FD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039358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2026-08-20T16:11:58.2700000Z</dcterms:created>
  <dcterms:modified xsi:type="dcterms:W3CDTF">2026-08-20T16:11:58.2700000Z</dcterms:modified>
</coreProperties>
</file>